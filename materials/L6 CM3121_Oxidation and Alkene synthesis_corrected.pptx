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sldIdLst>
    <p:sldId id="664" r:id="rId2"/>
    <p:sldId id="398" r:id="rId3"/>
    <p:sldId id="405" r:id="rId4"/>
    <p:sldId id="407" r:id="rId5"/>
    <p:sldId id="793" r:id="rId6"/>
    <p:sldId id="408" r:id="rId7"/>
    <p:sldId id="356" r:id="rId8"/>
    <p:sldId id="410" r:id="rId9"/>
    <p:sldId id="411" r:id="rId10"/>
    <p:sldId id="412" r:id="rId11"/>
    <p:sldId id="789" r:id="rId12"/>
    <p:sldId id="788" r:id="rId13"/>
    <p:sldId id="792" r:id="rId14"/>
    <p:sldId id="387" r:id="rId15"/>
    <p:sldId id="415" r:id="rId16"/>
    <p:sldId id="394" r:id="rId17"/>
    <p:sldId id="416" r:id="rId18"/>
    <p:sldId id="796" r:id="rId19"/>
    <p:sldId id="794" r:id="rId20"/>
    <p:sldId id="705" r:id="rId21"/>
    <p:sldId id="292" r:id="rId22"/>
    <p:sldId id="330" r:id="rId23"/>
    <p:sldId id="325" r:id="rId24"/>
    <p:sldId id="312" r:id="rId25"/>
    <p:sldId id="326" r:id="rId26"/>
    <p:sldId id="296" r:id="rId27"/>
    <p:sldId id="308" r:id="rId28"/>
    <p:sldId id="331" r:id="rId29"/>
    <p:sldId id="297" r:id="rId30"/>
    <p:sldId id="300" r:id="rId31"/>
    <p:sldId id="332" r:id="rId32"/>
    <p:sldId id="302" r:id="rId33"/>
    <p:sldId id="303" r:id="rId34"/>
    <p:sldId id="333" r:id="rId35"/>
    <p:sldId id="797" r:id="rId36"/>
    <p:sldId id="306" r:id="rId37"/>
    <p:sldId id="307" r:id="rId38"/>
    <p:sldId id="699" r:id="rId39"/>
  </p:sldIdLst>
  <p:sldSz cx="9144000" cy="6858000" type="screen4x3"/>
  <p:notesSz cx="7315200" cy="96012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FF"/>
    <a:srgbClr val="FFFF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3784" autoAdjust="0"/>
  </p:normalViewPr>
  <p:slideViewPr>
    <p:cSldViewPr>
      <p:cViewPr varScale="1">
        <p:scale>
          <a:sx n="58" d="100"/>
          <a:sy n="58" d="100"/>
        </p:scale>
        <p:origin x="1500" y="66"/>
      </p:cViewPr>
      <p:guideLst>
        <p:guide orient="horz" pos="31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588" y="0"/>
            <a:ext cx="3169920" cy="480060"/>
          </a:xfrm>
          <a:prstGeom prst="rect">
            <a:avLst/>
          </a:prstGeom>
        </p:spPr>
        <p:txBody>
          <a:bodyPr vert="horz" lIns="91440" tIns="45720" rIns="91440" bIns="45720" rtlCol="0"/>
          <a:lstStyle>
            <a:lvl1pPr algn="r">
              <a:defRPr sz="1200"/>
            </a:lvl1pPr>
          </a:lstStyle>
          <a:p>
            <a:fld id="{50954233-612E-4D28-8B1A-CC6A94206BE4}" type="datetimeFigureOut">
              <a:rPr lang="en-US" smtClean="0"/>
              <a:pPr/>
              <a:t>9/2/2026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3"/>
            <a:ext cx="3169920" cy="48006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588" y="9119473"/>
            <a:ext cx="3169920" cy="480060"/>
          </a:xfrm>
          <a:prstGeom prst="rect">
            <a:avLst/>
          </a:prstGeom>
        </p:spPr>
        <p:txBody>
          <a:bodyPr vert="horz" lIns="91440" tIns="45720" rIns="91440" bIns="45720" rtlCol="0" anchor="b"/>
          <a:lstStyle>
            <a:lvl1pPr algn="r">
              <a:defRPr sz="1200"/>
            </a:lvl1pPr>
          </a:lstStyle>
          <a:p>
            <a:fld id="{9CE6579F-CCD5-4C7D-9644-E2AA9BCFE969}" type="slidenum">
              <a:rPr lang="en-US" smtClean="0"/>
              <a:pPr/>
              <a:t>‹#›</a:t>
            </a:fld>
            <a:endParaRPr lang="en-US"/>
          </a:p>
        </p:txBody>
      </p:sp>
    </p:spTree>
    <p:extLst>
      <p:ext uri="{BB962C8B-B14F-4D97-AF65-F5344CB8AC3E}">
        <p14:creationId xmlns:p14="http://schemas.microsoft.com/office/powerpoint/2010/main" val="349548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DIBAL only becomes a reducing agent upon forming a Lewis acid-base complex. </a:t>
            </a:r>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a:t>
            </a:fld>
            <a:endParaRPr lang="en-US"/>
          </a:p>
        </p:txBody>
      </p:sp>
    </p:spTree>
    <p:extLst>
      <p:ext uri="{BB962C8B-B14F-4D97-AF65-F5344CB8AC3E}">
        <p14:creationId xmlns:p14="http://schemas.microsoft.com/office/powerpoint/2010/main" val="3564162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a:t>
            </a:fld>
            <a:endParaRPr lang="en-US"/>
          </a:p>
        </p:txBody>
      </p:sp>
    </p:spTree>
    <p:extLst>
      <p:ext uri="{BB962C8B-B14F-4D97-AF65-F5344CB8AC3E}">
        <p14:creationId xmlns:p14="http://schemas.microsoft.com/office/powerpoint/2010/main" val="2241151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4</a:t>
            </a:fld>
            <a:endParaRPr lang="en-US"/>
          </a:p>
        </p:txBody>
      </p:sp>
    </p:spTree>
    <p:extLst>
      <p:ext uri="{BB962C8B-B14F-4D97-AF65-F5344CB8AC3E}">
        <p14:creationId xmlns:p14="http://schemas.microsoft.com/office/powerpoint/2010/main" val="3879090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6</a:t>
            </a:fld>
            <a:endParaRPr lang="en-US"/>
          </a:p>
        </p:txBody>
      </p:sp>
    </p:spTree>
    <p:extLst>
      <p:ext uri="{BB962C8B-B14F-4D97-AF65-F5344CB8AC3E}">
        <p14:creationId xmlns:p14="http://schemas.microsoft.com/office/powerpoint/2010/main" val="3037127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7</a:t>
            </a:fld>
            <a:endParaRPr lang="en-US"/>
          </a:p>
        </p:txBody>
      </p:sp>
    </p:spTree>
    <p:extLst>
      <p:ext uri="{BB962C8B-B14F-4D97-AF65-F5344CB8AC3E}">
        <p14:creationId xmlns:p14="http://schemas.microsoft.com/office/powerpoint/2010/main" val="1878188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8</a:t>
            </a:fld>
            <a:endParaRPr lang="en-US"/>
          </a:p>
        </p:txBody>
      </p:sp>
    </p:spTree>
    <p:extLst>
      <p:ext uri="{BB962C8B-B14F-4D97-AF65-F5344CB8AC3E}">
        <p14:creationId xmlns:p14="http://schemas.microsoft.com/office/powerpoint/2010/main" val="90004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9</a:t>
            </a:fld>
            <a:endParaRPr lang="en-US"/>
          </a:p>
        </p:txBody>
      </p:sp>
    </p:spTree>
    <p:extLst>
      <p:ext uri="{BB962C8B-B14F-4D97-AF65-F5344CB8AC3E}">
        <p14:creationId xmlns:p14="http://schemas.microsoft.com/office/powerpoint/2010/main" val="2344350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10</a:t>
            </a:fld>
            <a:endParaRPr lang="en-US"/>
          </a:p>
        </p:txBody>
      </p:sp>
    </p:spTree>
    <p:extLst>
      <p:ext uri="{BB962C8B-B14F-4D97-AF65-F5344CB8AC3E}">
        <p14:creationId xmlns:p14="http://schemas.microsoft.com/office/powerpoint/2010/main" val="2040105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11</a:t>
            </a:fld>
            <a:endParaRPr lang="en-US"/>
          </a:p>
        </p:txBody>
      </p:sp>
    </p:spTree>
    <p:extLst>
      <p:ext uri="{BB962C8B-B14F-4D97-AF65-F5344CB8AC3E}">
        <p14:creationId xmlns:p14="http://schemas.microsoft.com/office/powerpoint/2010/main" val="2879168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13</a:t>
            </a:fld>
            <a:endParaRPr lang="en-US"/>
          </a:p>
        </p:txBody>
      </p:sp>
    </p:spTree>
    <p:extLst>
      <p:ext uri="{BB962C8B-B14F-4D97-AF65-F5344CB8AC3E}">
        <p14:creationId xmlns:p14="http://schemas.microsoft.com/office/powerpoint/2010/main" val="2642017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15</a:t>
            </a:fld>
            <a:endParaRPr lang="en-US"/>
          </a:p>
        </p:txBody>
      </p:sp>
    </p:spTree>
    <p:extLst>
      <p:ext uri="{BB962C8B-B14F-4D97-AF65-F5344CB8AC3E}">
        <p14:creationId xmlns:p14="http://schemas.microsoft.com/office/powerpoint/2010/main" val="2105164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16</a:t>
            </a:fld>
            <a:endParaRPr lang="en-US"/>
          </a:p>
        </p:txBody>
      </p:sp>
    </p:spTree>
    <p:extLst>
      <p:ext uri="{BB962C8B-B14F-4D97-AF65-F5344CB8AC3E}">
        <p14:creationId xmlns:p14="http://schemas.microsoft.com/office/powerpoint/2010/main" val="1987765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17</a:t>
            </a:fld>
            <a:endParaRPr lang="en-US"/>
          </a:p>
        </p:txBody>
      </p:sp>
    </p:spTree>
    <p:extLst>
      <p:ext uri="{BB962C8B-B14F-4D97-AF65-F5344CB8AC3E}">
        <p14:creationId xmlns:p14="http://schemas.microsoft.com/office/powerpoint/2010/main" val="2218406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18</a:t>
            </a:fld>
            <a:endParaRPr lang="en-US"/>
          </a:p>
        </p:txBody>
      </p:sp>
    </p:spTree>
    <p:extLst>
      <p:ext uri="{BB962C8B-B14F-4D97-AF65-F5344CB8AC3E}">
        <p14:creationId xmlns:p14="http://schemas.microsoft.com/office/powerpoint/2010/main" val="279169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21</a:t>
            </a:fld>
            <a:endParaRPr lang="en-US"/>
          </a:p>
        </p:txBody>
      </p:sp>
    </p:spTree>
    <p:extLst>
      <p:ext uri="{BB962C8B-B14F-4D97-AF65-F5344CB8AC3E}">
        <p14:creationId xmlns:p14="http://schemas.microsoft.com/office/powerpoint/2010/main" val="3332998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22</a:t>
            </a:fld>
            <a:endParaRPr lang="en-US"/>
          </a:p>
        </p:txBody>
      </p:sp>
    </p:spTree>
    <p:extLst>
      <p:ext uri="{BB962C8B-B14F-4D97-AF65-F5344CB8AC3E}">
        <p14:creationId xmlns:p14="http://schemas.microsoft.com/office/powerpoint/2010/main" val="711724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23</a:t>
            </a:fld>
            <a:endParaRPr lang="en-US"/>
          </a:p>
        </p:txBody>
      </p:sp>
    </p:spTree>
    <p:extLst>
      <p:ext uri="{BB962C8B-B14F-4D97-AF65-F5344CB8AC3E}">
        <p14:creationId xmlns:p14="http://schemas.microsoft.com/office/powerpoint/2010/main" val="94352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24</a:t>
            </a:fld>
            <a:endParaRPr lang="en-US"/>
          </a:p>
        </p:txBody>
      </p:sp>
    </p:spTree>
    <p:extLst>
      <p:ext uri="{BB962C8B-B14F-4D97-AF65-F5344CB8AC3E}">
        <p14:creationId xmlns:p14="http://schemas.microsoft.com/office/powerpoint/2010/main" val="10174887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25</a:t>
            </a:fld>
            <a:endParaRPr lang="en-US"/>
          </a:p>
        </p:txBody>
      </p:sp>
    </p:spTree>
    <p:extLst>
      <p:ext uri="{BB962C8B-B14F-4D97-AF65-F5344CB8AC3E}">
        <p14:creationId xmlns:p14="http://schemas.microsoft.com/office/powerpoint/2010/main" val="3222499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26</a:t>
            </a:fld>
            <a:endParaRPr lang="en-US"/>
          </a:p>
        </p:txBody>
      </p:sp>
    </p:spTree>
    <p:extLst>
      <p:ext uri="{BB962C8B-B14F-4D97-AF65-F5344CB8AC3E}">
        <p14:creationId xmlns:p14="http://schemas.microsoft.com/office/powerpoint/2010/main" val="176102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27</a:t>
            </a:fld>
            <a:endParaRPr lang="en-US"/>
          </a:p>
        </p:txBody>
      </p:sp>
    </p:spTree>
    <p:extLst>
      <p:ext uri="{BB962C8B-B14F-4D97-AF65-F5344CB8AC3E}">
        <p14:creationId xmlns:p14="http://schemas.microsoft.com/office/powerpoint/2010/main" val="484024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BASF</a:t>
            </a:r>
          </a:p>
        </p:txBody>
      </p:sp>
      <p:sp>
        <p:nvSpPr>
          <p:cNvPr id="4" name="Slide Number Placeholder 3"/>
          <p:cNvSpPr>
            <a:spLocks noGrp="1"/>
          </p:cNvSpPr>
          <p:nvPr>
            <p:ph type="sldNum" sz="quarter" idx="10"/>
          </p:nvPr>
        </p:nvSpPr>
        <p:spPr/>
        <p:txBody>
          <a:bodyPr/>
          <a:lstStyle/>
          <a:p>
            <a:fld id="{CBB818BB-1E8A-4BFC-9AC8-7CBEE778997D}" type="slidenum">
              <a:rPr lang="en-US" smtClean="0"/>
              <a:t>28</a:t>
            </a:fld>
            <a:endParaRPr lang="en-US"/>
          </a:p>
        </p:txBody>
      </p:sp>
    </p:spTree>
    <p:extLst>
      <p:ext uri="{BB962C8B-B14F-4D97-AF65-F5344CB8AC3E}">
        <p14:creationId xmlns:p14="http://schemas.microsoft.com/office/powerpoint/2010/main" val="1911548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29</a:t>
            </a:fld>
            <a:endParaRPr lang="en-US"/>
          </a:p>
        </p:txBody>
      </p:sp>
    </p:spTree>
    <p:extLst>
      <p:ext uri="{BB962C8B-B14F-4D97-AF65-F5344CB8AC3E}">
        <p14:creationId xmlns:p14="http://schemas.microsoft.com/office/powerpoint/2010/main" val="3604964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30</a:t>
            </a:fld>
            <a:endParaRPr lang="en-US"/>
          </a:p>
        </p:txBody>
      </p:sp>
    </p:spTree>
    <p:extLst>
      <p:ext uri="{BB962C8B-B14F-4D97-AF65-F5344CB8AC3E}">
        <p14:creationId xmlns:p14="http://schemas.microsoft.com/office/powerpoint/2010/main" val="439623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31</a:t>
            </a:fld>
            <a:endParaRPr lang="en-US"/>
          </a:p>
        </p:txBody>
      </p:sp>
    </p:spTree>
    <p:extLst>
      <p:ext uri="{BB962C8B-B14F-4D97-AF65-F5344CB8AC3E}">
        <p14:creationId xmlns:p14="http://schemas.microsoft.com/office/powerpoint/2010/main" val="3954837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(McMurry 19.16)</a:t>
            </a:r>
          </a:p>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32</a:t>
            </a:fld>
            <a:endParaRPr lang="en-US"/>
          </a:p>
        </p:txBody>
      </p:sp>
    </p:spTree>
    <p:extLst>
      <p:ext uri="{BB962C8B-B14F-4D97-AF65-F5344CB8AC3E}">
        <p14:creationId xmlns:p14="http://schemas.microsoft.com/office/powerpoint/2010/main" val="35825536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33</a:t>
            </a:fld>
            <a:endParaRPr lang="en-US"/>
          </a:p>
        </p:txBody>
      </p:sp>
    </p:spTree>
    <p:extLst>
      <p:ext uri="{BB962C8B-B14F-4D97-AF65-F5344CB8AC3E}">
        <p14:creationId xmlns:p14="http://schemas.microsoft.com/office/powerpoint/2010/main" val="3041396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34</a:t>
            </a:fld>
            <a:endParaRPr lang="en-US"/>
          </a:p>
        </p:txBody>
      </p:sp>
    </p:spTree>
    <p:extLst>
      <p:ext uri="{BB962C8B-B14F-4D97-AF65-F5344CB8AC3E}">
        <p14:creationId xmlns:p14="http://schemas.microsoft.com/office/powerpoint/2010/main" val="1557399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BA98B-9943-0FDC-1D8E-D09E5856F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7FFC7-3D8B-17AF-5CBA-44AEE51D2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230A3-00B6-FDB5-1B88-042B6A607D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759DA6-5F3D-0F32-3D65-4284963533E3}"/>
              </a:ext>
            </a:extLst>
          </p:cNvPr>
          <p:cNvSpPr>
            <a:spLocks noGrp="1"/>
          </p:cNvSpPr>
          <p:nvPr>
            <p:ph type="sldNum" sz="quarter" idx="10"/>
          </p:nvPr>
        </p:nvSpPr>
        <p:spPr/>
        <p:txBody>
          <a:bodyPr/>
          <a:lstStyle/>
          <a:p>
            <a:fld id="{CBB818BB-1E8A-4BFC-9AC8-7CBEE778997D}" type="slidenum">
              <a:rPr lang="en-US" smtClean="0"/>
              <a:t>35</a:t>
            </a:fld>
            <a:endParaRPr lang="en-US"/>
          </a:p>
        </p:txBody>
      </p:sp>
    </p:spTree>
    <p:extLst>
      <p:ext uri="{BB962C8B-B14F-4D97-AF65-F5344CB8AC3E}">
        <p14:creationId xmlns:p14="http://schemas.microsoft.com/office/powerpoint/2010/main" val="32105446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36</a:t>
            </a:fld>
            <a:endParaRPr lang="en-US"/>
          </a:p>
        </p:txBody>
      </p:sp>
    </p:spTree>
    <p:extLst>
      <p:ext uri="{BB962C8B-B14F-4D97-AF65-F5344CB8AC3E}">
        <p14:creationId xmlns:p14="http://schemas.microsoft.com/office/powerpoint/2010/main" val="8281251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B818BB-1E8A-4BFC-9AC8-7CBEE778997D}" type="slidenum">
              <a:rPr lang="en-US" smtClean="0"/>
              <a:t>37</a:t>
            </a:fld>
            <a:endParaRPr lang="en-US"/>
          </a:p>
        </p:txBody>
      </p:sp>
    </p:spTree>
    <p:extLst>
      <p:ext uri="{BB962C8B-B14F-4D97-AF65-F5344CB8AC3E}">
        <p14:creationId xmlns:p14="http://schemas.microsoft.com/office/powerpoint/2010/main" val="481770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DD3A7A4-8C95-4F6C-940E-3F967121248D}"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29EBCC-48F0-445B-AAD2-9EED15C42B10}"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AA658B-B070-4116-A23E-5903B2B9B12D}"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122370-BC41-48D6-B92D-210A25885F4E}"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119676-B018-4697-9EE6-263A2C8566F1}" type="datetime1">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7BD59F7-7025-46C8-A81F-D8804C90C026}" type="datetime1">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F594C8-4209-41D5-AFDA-AEB40B8FCC82}" type="datetime1">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A97280-10B8-44E4-8F70-08F1D49EED3C}"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AFA3A1-F488-401A-B89C-F4D5F7AADBF8}"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608F60-5AFC-4DA5-9CD4-85BBD8020CC3}"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7426DA-8553-4181-ADBD-0A4E18938335}"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92BDBB-398E-48A7-A195-B9C0665C5B2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229A73-4EAF-4C71-B05B-A3052BE0DF37}" type="datetime1">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92BDBB-398E-48A7-A195-B9C0665C5B2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hmhoan@nus.edu.s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synarchive.com/named-reactions/swern-oxidation"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jpeg"/><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news.usc.edu/112489/antihistamines-prevent-asian-flush-the-red-face-some-people-get-from-alcohol-but-with-huge-risks/" TargetMode="Externa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emf"/></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hyperlink" Target="mailto:chmhoan@nus.edu.s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2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jpeg"/><Relationship Id="rId4" Type="http://schemas.openxmlformats.org/officeDocument/2006/relationships/image" Target="../media/image5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2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8.emf"/><Relationship Id="rId5" Type="http://schemas.openxmlformats.org/officeDocument/2006/relationships/oleObject" Target="../embeddings/oleObject6.bin"/><Relationship Id="rId4" Type="http://schemas.openxmlformats.org/officeDocument/2006/relationships/image" Target="../media/image57.jpeg"/></Relationships>
</file>

<file path=ppt/slides/_rels/slide3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3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3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3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37.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8.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44532"/>
            <a:ext cx="7772400" cy="1470025"/>
          </a:xfrm>
        </p:spPr>
        <p:txBody>
          <a:bodyPr>
            <a:normAutofit/>
          </a:bodyPr>
          <a:lstStyle/>
          <a:p>
            <a:pPr algn="r"/>
            <a:r>
              <a:rPr lang="en-US" sz="3600" b="1" dirty="0"/>
              <a:t>CM3121 – Advanced Organic Chemistry</a:t>
            </a:r>
          </a:p>
        </p:txBody>
      </p:sp>
      <p:pic>
        <p:nvPicPr>
          <p:cNvPr id="25602" name="Picture 2" descr="http://www.nus.edu.sg/identity/images/identity/logo/fullcolorlogo.jpg"/>
          <p:cNvPicPr>
            <a:picLocks noChangeAspect="1" noChangeArrowheads="1"/>
          </p:cNvPicPr>
          <p:nvPr/>
        </p:nvPicPr>
        <p:blipFill>
          <a:blip r:embed="rId2" cstate="print"/>
          <a:srcRect/>
          <a:stretch>
            <a:fillRect/>
          </a:stretch>
        </p:blipFill>
        <p:spPr bwMode="auto">
          <a:xfrm>
            <a:off x="6553200" y="328390"/>
            <a:ext cx="1714500" cy="828676"/>
          </a:xfrm>
          <a:prstGeom prst="rect">
            <a:avLst/>
          </a:prstGeom>
          <a:noFill/>
        </p:spPr>
      </p:pic>
      <p:sp>
        <p:nvSpPr>
          <p:cNvPr id="6" name="Subtitle 2"/>
          <p:cNvSpPr txBox="1">
            <a:spLocks/>
          </p:cNvSpPr>
          <p:nvPr/>
        </p:nvSpPr>
        <p:spPr>
          <a:xfrm>
            <a:off x="1996109" y="2802023"/>
            <a:ext cx="6400800" cy="17526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r>
              <a:rPr lang="en-US" sz="2400" dirty="0">
                <a:solidFill>
                  <a:schemeClr val="tx1"/>
                </a:solidFill>
              </a:rPr>
              <a:t>Dr. Zhu Ye</a:t>
            </a:r>
          </a:p>
          <a:p>
            <a:pPr algn="r"/>
            <a:r>
              <a:rPr lang="en-US" sz="2400" dirty="0">
                <a:solidFill>
                  <a:schemeClr val="tx1"/>
                </a:solidFill>
              </a:rPr>
              <a:t>Office: S9-14/Tel: 66017501</a:t>
            </a:r>
          </a:p>
          <a:p>
            <a:pPr algn="r"/>
            <a:r>
              <a:rPr lang="en-US" sz="2400" dirty="0">
                <a:solidFill>
                  <a:schemeClr val="tx1"/>
                </a:solidFill>
                <a:hlinkClick r:id="rId3"/>
              </a:rPr>
              <a:t>chmzhu@nus.edu.sg</a:t>
            </a:r>
            <a:endParaRPr lang="en-US" sz="2400" dirty="0">
              <a:solidFill>
                <a:schemeClr val="tx1"/>
              </a:solidFill>
            </a:endParaRPr>
          </a:p>
        </p:txBody>
      </p:sp>
      <p:sp>
        <p:nvSpPr>
          <p:cNvPr id="8" name="Subtitle 3">
            <a:extLst>
              <a:ext uri="{FF2B5EF4-FFF2-40B4-BE49-F238E27FC236}">
                <a16:creationId xmlns:a16="http://schemas.microsoft.com/office/drawing/2014/main" id="{15E9F137-5ABA-48A5-8DAD-4D9C52933E1A}"/>
              </a:ext>
            </a:extLst>
          </p:cNvPr>
          <p:cNvSpPr>
            <a:spLocks noGrp="1"/>
          </p:cNvSpPr>
          <p:nvPr>
            <p:ph type="subTitle" idx="1"/>
          </p:nvPr>
        </p:nvSpPr>
        <p:spPr>
          <a:xfrm>
            <a:off x="1371600" y="5029200"/>
            <a:ext cx="6400800" cy="609600"/>
          </a:xfrm>
        </p:spPr>
        <p:txBody>
          <a:bodyPr>
            <a:normAutofit/>
          </a:bodyPr>
          <a:lstStyle/>
          <a:p>
            <a:r>
              <a:rPr lang="en-US" dirty="0">
                <a:latin typeface="Calibri" panose="020F0502020204030204" pitchFamily="34" charset="0"/>
                <a:cs typeface="Calibri" panose="020F0502020204030204" pitchFamily="34" charset="0"/>
              </a:rPr>
              <a:t>Oxidation Reactions</a:t>
            </a:r>
            <a:endParaRPr lang="en-S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46320"/>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t>DIBAL-H</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41198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500" baseline="0" dirty="0"/>
                        <a:t>DIBAL-H (</a:t>
                      </a:r>
                      <a:r>
                        <a:rPr lang="en-US" sz="1500" baseline="0" dirty="0" err="1"/>
                        <a:t>diisobutyl</a:t>
                      </a:r>
                      <a:r>
                        <a:rPr lang="en-US" sz="1500" baseline="0" dirty="0"/>
                        <a:t> </a:t>
                      </a:r>
                      <a:r>
                        <a:rPr lang="en-US" sz="1500" baseline="0" dirty="0" err="1"/>
                        <a:t>aluminium</a:t>
                      </a:r>
                      <a:r>
                        <a:rPr lang="en-US" sz="1500" baseline="0" dirty="0"/>
                        <a:t> hydride, which is an </a:t>
                      </a:r>
                      <a:r>
                        <a:rPr lang="en-US" sz="1500" baseline="0" dirty="0" err="1"/>
                        <a:t>alane</a:t>
                      </a:r>
                      <a:r>
                        <a:rPr lang="en-US" sz="1500" baseline="0" dirty="0"/>
                        <a:t>):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500" baseline="-25000" dirty="0"/>
                    </a:p>
                    <a:p>
                      <a:pPr marL="0" indent="0">
                        <a:buFont typeface="+mj-lt"/>
                        <a:buNone/>
                      </a:pPr>
                      <a:r>
                        <a:rPr lang="en-US" sz="1500" baseline="0" dirty="0"/>
                        <a:t>Partial Reduction (esters to aldehyde): at low temperature</a:t>
                      </a:r>
                    </a:p>
                    <a:p>
                      <a:pPr marL="0" indent="0">
                        <a:buFont typeface="+mj-lt"/>
                        <a:buNone/>
                      </a:pPr>
                      <a:endParaRPr lang="en-US" sz="1500" baseline="0" dirty="0"/>
                    </a:p>
                    <a:p>
                      <a:pPr marL="0" indent="0">
                        <a:buFont typeface="+mj-lt"/>
                        <a:buNone/>
                      </a:pPr>
                      <a:endParaRPr lang="en-US" sz="1500" baseline="0" dirty="0"/>
                    </a:p>
                    <a:p>
                      <a:pPr marL="0" indent="0">
                        <a:buFont typeface="+mj-lt"/>
                        <a:buNone/>
                      </a:pPr>
                      <a:endParaRPr lang="en-US" sz="1500" baseline="0" dirty="0"/>
                    </a:p>
                    <a:p>
                      <a:pPr marL="0" indent="0">
                        <a:buFont typeface="+mj-lt"/>
                        <a:buNone/>
                      </a:pPr>
                      <a:endParaRPr lang="en-US" sz="1500" baseline="0" dirty="0"/>
                    </a:p>
                    <a:p>
                      <a:pPr marL="0" indent="0">
                        <a:buFont typeface="+mj-lt"/>
                        <a:buNone/>
                      </a:pPr>
                      <a:endParaRPr lang="en-US" sz="1500" baseline="0" dirty="0"/>
                    </a:p>
                    <a:p>
                      <a:pPr marL="0" indent="0">
                        <a:buFont typeface="+mj-lt"/>
                        <a:buNone/>
                      </a:pPr>
                      <a:endParaRPr lang="en-US" sz="1500" baseline="0" dirty="0"/>
                    </a:p>
                    <a:p>
                      <a:pPr marL="0" indent="0">
                        <a:buFont typeface="+mj-lt"/>
                        <a:buNone/>
                      </a:pPr>
                      <a:endParaRPr lang="en-US" sz="15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Question: what is the other way to convert esters to aldehydes?</a:t>
                      </a:r>
                      <a:endParaRPr lang="en-SG" sz="1500" dirty="0"/>
                    </a:p>
                    <a:p>
                      <a:pPr marL="0" indent="0">
                        <a:buNone/>
                      </a:pPr>
                      <a:endParaRPr lang="en-US" sz="1500" baseline="0" dirty="0"/>
                    </a:p>
                    <a:p>
                      <a:pPr marL="457200" indent="-457200">
                        <a:buAutoNum type="arabicPeriod" startAt="4"/>
                      </a:pPr>
                      <a:endParaRPr lang="en-US" sz="1500" baseline="-25000" dirty="0"/>
                    </a:p>
                    <a:p>
                      <a:pPr marL="457200" indent="-457200">
                        <a:buAutoNum type="arabicPeriod" startAt="4"/>
                      </a:pPr>
                      <a:endParaRPr lang="en-US" sz="1500" baseline="-25000" dirty="0"/>
                    </a:p>
                    <a:p>
                      <a:pPr marL="457200" indent="-457200">
                        <a:buAutoNum type="arabicPeriod" startAt="4"/>
                      </a:pPr>
                      <a:endParaRPr lang="en-US" sz="1500" baseline="-25000" dirty="0"/>
                    </a:p>
                    <a:p>
                      <a:pPr marL="457200" indent="-457200">
                        <a:buAutoNum type="arabicPeriod" startAt="4"/>
                      </a:pPr>
                      <a:endParaRPr lang="en-US" sz="1500" baseline="-25000" dirty="0"/>
                    </a:p>
                    <a:p>
                      <a:pPr marL="457200" indent="-457200">
                        <a:buAutoNum type="arabicPeriod" startAt="4"/>
                      </a:pPr>
                      <a:endParaRPr lang="en-US" sz="1500" baseline="-25000" dirty="0"/>
                    </a:p>
                    <a:p>
                      <a:pPr marL="457200" indent="-457200"/>
                      <a:endParaRPr lang="en-US" sz="1500" dirty="0"/>
                    </a:p>
                    <a:p>
                      <a:pPr marL="457200" indent="-457200"/>
                      <a:endParaRPr lang="en-US" sz="1500" dirty="0"/>
                    </a:p>
                    <a:p>
                      <a:pPr marL="457200" indent="-457200"/>
                      <a:endParaRPr lang="en-US" sz="1500" dirty="0"/>
                    </a:p>
                    <a:p>
                      <a:pPr marL="457200" indent="-457200"/>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2" name="Picture 11">
            <a:extLst>
              <a:ext uri="{FF2B5EF4-FFF2-40B4-BE49-F238E27FC236}">
                <a16:creationId xmlns:a16="http://schemas.microsoft.com/office/drawing/2014/main" id="{06235B81-BB06-411D-8D4E-B9A18460BD89}"/>
              </a:ext>
            </a:extLst>
          </p:cNvPr>
          <p:cNvPicPr>
            <a:picLocks noChangeAspect="1"/>
          </p:cNvPicPr>
          <p:nvPr/>
        </p:nvPicPr>
        <p:blipFill>
          <a:blip r:embed="rId3" cstate="print"/>
          <a:srcRect/>
          <a:stretch>
            <a:fillRect/>
          </a:stretch>
        </p:blipFill>
        <p:spPr bwMode="auto">
          <a:xfrm>
            <a:off x="934993" y="2109133"/>
            <a:ext cx="5933729" cy="1192358"/>
          </a:xfrm>
          <a:prstGeom prst="rect">
            <a:avLst/>
          </a:prstGeom>
          <a:noFill/>
          <a:ln>
            <a:miter lim="800000"/>
            <a:headEnd/>
            <a:tailEnd/>
          </a:ln>
        </p:spPr>
      </p:pic>
      <p:pic>
        <p:nvPicPr>
          <p:cNvPr id="13" name="Picture 12">
            <a:extLst>
              <a:ext uri="{FF2B5EF4-FFF2-40B4-BE49-F238E27FC236}">
                <a16:creationId xmlns:a16="http://schemas.microsoft.com/office/drawing/2014/main" id="{69231310-67CC-49E9-82C3-325975B765FC}"/>
              </a:ext>
            </a:extLst>
          </p:cNvPr>
          <p:cNvPicPr>
            <a:picLocks noChangeAspect="1"/>
          </p:cNvPicPr>
          <p:nvPr/>
        </p:nvPicPr>
        <p:blipFill>
          <a:blip r:embed="rId4" cstate="print"/>
          <a:srcRect/>
          <a:stretch>
            <a:fillRect/>
          </a:stretch>
        </p:blipFill>
        <p:spPr bwMode="auto">
          <a:xfrm>
            <a:off x="7396647" y="1504561"/>
            <a:ext cx="1276523" cy="1907771"/>
          </a:xfrm>
          <a:prstGeom prst="rect">
            <a:avLst/>
          </a:prstGeom>
          <a:noFill/>
          <a:ln>
            <a:miter lim="800000"/>
            <a:headEnd/>
            <a:tailEnd/>
          </a:ln>
        </p:spPr>
      </p:pic>
      <p:pic>
        <p:nvPicPr>
          <p:cNvPr id="9" name="Picture 8">
            <a:extLst>
              <a:ext uri="{FF2B5EF4-FFF2-40B4-BE49-F238E27FC236}">
                <a16:creationId xmlns:a16="http://schemas.microsoft.com/office/drawing/2014/main" id="{CAEB0FD1-19A2-4E49-BF67-02059DE3B1CF}"/>
              </a:ext>
            </a:extLst>
          </p:cNvPr>
          <p:cNvPicPr>
            <a:picLocks noChangeAspect="1"/>
          </p:cNvPicPr>
          <p:nvPr/>
        </p:nvPicPr>
        <p:blipFill>
          <a:blip r:embed="rId5" cstate="print"/>
          <a:srcRect/>
          <a:stretch>
            <a:fillRect/>
          </a:stretch>
        </p:blipFill>
        <p:spPr bwMode="auto">
          <a:xfrm>
            <a:off x="1056760" y="4330336"/>
            <a:ext cx="4970492" cy="790229"/>
          </a:xfrm>
          <a:prstGeom prst="rect">
            <a:avLst/>
          </a:prstGeom>
          <a:noFill/>
          <a:ln>
            <a:miter lim="800000"/>
            <a:headEnd/>
            <a:tailEnd/>
          </a:ln>
        </p:spPr>
      </p:pic>
      <p:sp>
        <p:nvSpPr>
          <p:cNvPr id="3" name="Rectangle 2">
            <a:extLst>
              <a:ext uri="{FF2B5EF4-FFF2-40B4-BE49-F238E27FC236}">
                <a16:creationId xmlns:a16="http://schemas.microsoft.com/office/drawing/2014/main" id="{DB5CF983-6107-4F34-A553-7FEDAAC12180}"/>
              </a:ext>
            </a:extLst>
          </p:cNvPr>
          <p:cNvSpPr/>
          <p:nvPr/>
        </p:nvSpPr>
        <p:spPr>
          <a:xfrm>
            <a:off x="4114800" y="4358807"/>
            <a:ext cx="740908" cy="253916"/>
          </a:xfrm>
          <a:prstGeom prst="rect">
            <a:avLst/>
          </a:prstGeom>
          <a:solidFill>
            <a:schemeClr val="bg1"/>
          </a:solidFill>
        </p:spPr>
        <p:txBody>
          <a:bodyPr wrap="square">
            <a:spAutoFit/>
          </a:bodyPr>
          <a:lstStyle/>
          <a:p>
            <a:r>
              <a:rPr lang="en-US" sz="1050" dirty="0">
                <a:solidFill>
                  <a:srgbClr val="FF0000"/>
                </a:solidFill>
                <a:latin typeface="Calibri" panose="020F0502020204030204" pitchFamily="34" charset="0"/>
                <a:cs typeface="Calibri" panose="020F0502020204030204" pitchFamily="34" charset="0"/>
              </a:rPr>
              <a:t>Oxidation</a:t>
            </a:r>
            <a:endParaRPr lang="en-US" sz="1050" dirty="0">
              <a:solidFill>
                <a:srgbClr val="FF0000"/>
              </a:solidFill>
            </a:endParaRPr>
          </a:p>
        </p:txBody>
      </p:sp>
      <p:sp>
        <p:nvSpPr>
          <p:cNvPr id="11" name="Rectangle 10">
            <a:extLst>
              <a:ext uri="{FF2B5EF4-FFF2-40B4-BE49-F238E27FC236}">
                <a16:creationId xmlns:a16="http://schemas.microsoft.com/office/drawing/2014/main" id="{7E52483E-AB73-4BB8-9D97-84AFC4283A4F}"/>
              </a:ext>
            </a:extLst>
          </p:cNvPr>
          <p:cNvSpPr/>
          <p:nvPr/>
        </p:nvSpPr>
        <p:spPr>
          <a:xfrm>
            <a:off x="2158826" y="4234663"/>
            <a:ext cx="740908" cy="253916"/>
          </a:xfrm>
          <a:prstGeom prst="rect">
            <a:avLst/>
          </a:prstGeom>
        </p:spPr>
        <p:txBody>
          <a:bodyPr wrap="none">
            <a:spAutoFit/>
          </a:bodyPr>
          <a:lstStyle/>
          <a:p>
            <a:r>
              <a:rPr lang="en-US" sz="1050" dirty="0">
                <a:solidFill>
                  <a:srgbClr val="FF0000"/>
                </a:solidFill>
                <a:latin typeface="Calibri" panose="020F0502020204030204" pitchFamily="34" charset="0"/>
                <a:cs typeface="Calibri" panose="020F0502020204030204" pitchFamily="34" charset="0"/>
              </a:rPr>
              <a:t>Reduction</a:t>
            </a:r>
            <a:endParaRPr lang="en-US" sz="1050" dirty="0">
              <a:solidFill>
                <a:srgbClr val="FF0000"/>
              </a:solidFill>
            </a:endParaRPr>
          </a:p>
        </p:txBody>
      </p:sp>
      <p:sp>
        <p:nvSpPr>
          <p:cNvPr id="10" name="Rectangle 9">
            <a:extLst>
              <a:ext uri="{FF2B5EF4-FFF2-40B4-BE49-F238E27FC236}">
                <a16:creationId xmlns:a16="http://schemas.microsoft.com/office/drawing/2014/main" id="{DE8A4D0C-D675-4BAF-9BEA-0CE4ED874069}"/>
              </a:ext>
            </a:extLst>
          </p:cNvPr>
          <p:cNvSpPr/>
          <p:nvPr/>
        </p:nvSpPr>
        <p:spPr>
          <a:xfrm>
            <a:off x="2133600" y="3962400"/>
            <a:ext cx="2656707" cy="131924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a:p>
        </p:txBody>
      </p:sp>
    </p:spTree>
    <p:extLst>
      <p:ext uri="{BB962C8B-B14F-4D97-AF65-F5344CB8AC3E}">
        <p14:creationId xmlns:p14="http://schemas.microsoft.com/office/powerpoint/2010/main" val="866434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205065322"/>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Oxidation</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None/>
                      </a:pPr>
                      <a:r>
                        <a:rPr lang="en-US" sz="1500" b="1" dirty="0"/>
                        <a:t>I. Oxidation of alcohols and aldehydes</a:t>
                      </a:r>
                    </a:p>
                    <a:p>
                      <a:pPr marL="457200" lvl="1" indent="0">
                        <a:buNone/>
                      </a:pPr>
                      <a:r>
                        <a:rPr lang="en-US" sz="1500" b="1" dirty="0"/>
                        <a:t>1.1 Alcohols to aldehydes/ketones</a:t>
                      </a:r>
                    </a:p>
                    <a:p>
                      <a:pPr marL="457200" lvl="1" indent="0">
                        <a:buNone/>
                      </a:pPr>
                      <a:r>
                        <a:rPr lang="en-US" sz="1500" b="1" dirty="0"/>
                        <a:t>1.2 Alcohols to carboxylic acids</a:t>
                      </a:r>
                    </a:p>
                    <a:p>
                      <a:pPr marL="457200" lvl="1" indent="0">
                        <a:buNone/>
                      </a:pPr>
                      <a:r>
                        <a:rPr lang="en-US" sz="1500" b="1" dirty="0"/>
                        <a:t>1.3 Aldehydes to carboxylic acid</a:t>
                      </a:r>
                    </a:p>
                    <a:p>
                      <a:pPr marL="0" indent="0">
                        <a:buNone/>
                      </a:pPr>
                      <a:endParaRPr lang="en-US" sz="1500" dirty="0"/>
                    </a:p>
                    <a:p>
                      <a:pPr marL="0" indent="0">
                        <a:buNone/>
                      </a:pPr>
                      <a:r>
                        <a:rPr lang="en-US" sz="1500" dirty="0"/>
                        <a:t>II. Oxidation of C=C double bonds (previous lectures)</a:t>
                      </a:r>
                    </a:p>
                    <a:p>
                      <a:pPr marL="457200" lvl="1" indent="0">
                        <a:buNone/>
                      </a:pPr>
                      <a:r>
                        <a:rPr lang="en-US" sz="1500" dirty="0"/>
                        <a:t>2.1 Epoxidation </a:t>
                      </a:r>
                    </a:p>
                    <a:p>
                      <a:pPr marL="457200" lvl="1" indent="0">
                        <a:buNone/>
                      </a:pPr>
                      <a:r>
                        <a:rPr lang="en-US" sz="1500" dirty="0"/>
                        <a:t>2.2 Dihydroxylation</a:t>
                      </a:r>
                    </a:p>
                    <a:p>
                      <a:pPr marL="457200" lvl="1" indent="0">
                        <a:buNone/>
                      </a:pPr>
                      <a:r>
                        <a:rPr lang="en-US" sz="1500" dirty="0"/>
                        <a:t>2.3 </a:t>
                      </a:r>
                      <a:r>
                        <a:rPr lang="en-US" sz="1500" dirty="0" err="1"/>
                        <a:t>Ozonolysis</a:t>
                      </a:r>
                      <a:r>
                        <a:rPr lang="en-US" sz="1500" dirty="0"/>
                        <a:t> </a:t>
                      </a:r>
                    </a:p>
                    <a:p>
                      <a:pPr marL="0" indent="0">
                        <a:buNone/>
                      </a:pPr>
                      <a:endParaRPr lang="en-US" sz="1500" dirty="0"/>
                    </a:p>
                    <a:p>
                      <a:pPr marL="0" indent="0">
                        <a:buNone/>
                      </a:pPr>
                      <a:endParaRPr lang="en-US" sz="150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Tree>
    <p:extLst>
      <p:ext uri="{BB962C8B-B14F-4D97-AF65-F5344CB8AC3E}">
        <p14:creationId xmlns:p14="http://schemas.microsoft.com/office/powerpoint/2010/main" val="11234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1675278522"/>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Alcohols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lgn="just">
                        <a:buNone/>
                      </a:pPr>
                      <a:r>
                        <a:rPr lang="en-GB" sz="1500" i="1" dirty="0"/>
                        <a:t>Geraniol</a:t>
                      </a:r>
                      <a:r>
                        <a:rPr lang="en-GB" sz="1500" dirty="0"/>
                        <a:t> has a characteristic rose-like odour and the taste (at 10 ppm) is described as sweet floral rose-like, citrus with fruity, waxy nuances. This monoterpene alcohol is a widely used fragrance material. </a:t>
                      </a:r>
                    </a:p>
                    <a:p>
                      <a:pPr marL="0" indent="0" algn="just">
                        <a:buNone/>
                      </a:pPr>
                      <a:endParaRPr lang="en-GB" sz="1500" dirty="0"/>
                    </a:p>
                    <a:p>
                      <a:pPr marL="0" indent="0" algn="just">
                        <a:buNone/>
                      </a:pPr>
                      <a:r>
                        <a:rPr lang="en-GB" sz="1500" dirty="0"/>
                        <a:t>A survey of consumer products revealed that it is present in 76% of investigated deodorants on the European market, included in 41% of domestic and household products and in 33% of cosmetic formulations based on natural ingredients and its production exceeds 1000 metric tons per annum.</a:t>
                      </a:r>
                      <a:endParaRPr lang="en-US" sz="1500" dirty="0"/>
                    </a:p>
                    <a:p>
                      <a:pPr marL="0" indent="0">
                        <a:buNone/>
                      </a:pPr>
                      <a:endParaRPr lang="en-US" sz="150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4</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graphicFrame>
        <p:nvGraphicFramePr>
          <p:cNvPr id="3" name="Object 2">
            <a:extLst>
              <a:ext uri="{FF2B5EF4-FFF2-40B4-BE49-F238E27FC236}">
                <a16:creationId xmlns:a16="http://schemas.microsoft.com/office/drawing/2014/main" id="{4F2091A0-0F1C-41FF-99F6-874B951FD075}"/>
              </a:ext>
            </a:extLst>
          </p:cNvPr>
          <p:cNvGraphicFramePr>
            <a:graphicFrameLocks noChangeAspect="1"/>
          </p:cNvGraphicFramePr>
          <p:nvPr>
            <p:extLst>
              <p:ext uri="{D42A27DB-BD31-4B8C-83A1-F6EECF244321}">
                <p14:modId xmlns:p14="http://schemas.microsoft.com/office/powerpoint/2010/main" val="3731826143"/>
              </p:ext>
            </p:extLst>
          </p:nvPr>
        </p:nvGraphicFramePr>
        <p:xfrm>
          <a:off x="2176154" y="2879588"/>
          <a:ext cx="1081406" cy="1098824"/>
        </p:xfrm>
        <a:graphic>
          <a:graphicData uri="http://schemas.openxmlformats.org/presentationml/2006/ole">
            <mc:AlternateContent xmlns:mc="http://schemas.openxmlformats.org/markup-compatibility/2006">
              <mc:Choice xmlns:v="urn:schemas-microsoft-com:vml" Requires="v">
                <p:oleObj name="CS ChemDraw Drawing" r:id="rId3" imgW="961250" imgH="976732" progId="ChemDraw.Document.6.0">
                  <p:embed/>
                </p:oleObj>
              </mc:Choice>
              <mc:Fallback>
                <p:oleObj name="CS ChemDraw Drawing" r:id="rId3" imgW="961250" imgH="976732" progId="ChemDraw.Document.6.0">
                  <p:embed/>
                  <p:pic>
                    <p:nvPicPr>
                      <p:cNvPr id="3" name="Object 2">
                        <a:extLst>
                          <a:ext uri="{FF2B5EF4-FFF2-40B4-BE49-F238E27FC236}">
                            <a16:creationId xmlns:a16="http://schemas.microsoft.com/office/drawing/2014/main" id="{4F2091A0-0F1C-41FF-99F6-874B951FD075}"/>
                          </a:ext>
                        </a:extLst>
                      </p:cNvPr>
                      <p:cNvPicPr/>
                      <p:nvPr/>
                    </p:nvPicPr>
                    <p:blipFill>
                      <a:blip r:embed="rId4"/>
                      <a:stretch>
                        <a:fillRect/>
                      </a:stretch>
                    </p:blipFill>
                    <p:spPr>
                      <a:xfrm>
                        <a:off x="2176154" y="2879588"/>
                        <a:ext cx="1081406" cy="1098824"/>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2767E4D7-BFCA-4BE9-8221-9A65D8BA44A3}"/>
              </a:ext>
            </a:extLst>
          </p:cNvPr>
          <p:cNvSpPr/>
          <p:nvPr/>
        </p:nvSpPr>
        <p:spPr>
          <a:xfrm>
            <a:off x="775700" y="3766049"/>
            <a:ext cx="783869" cy="300082"/>
          </a:xfrm>
          <a:prstGeom prst="rect">
            <a:avLst/>
          </a:prstGeom>
        </p:spPr>
        <p:txBody>
          <a:bodyPr wrap="none">
            <a:spAutoFit/>
          </a:bodyPr>
          <a:lstStyle/>
          <a:p>
            <a:r>
              <a:rPr lang="en-US" sz="1350" dirty="0"/>
              <a:t>Geraniol</a:t>
            </a:r>
          </a:p>
        </p:txBody>
      </p:sp>
      <p:pic>
        <p:nvPicPr>
          <p:cNvPr id="8" name="Picture 7">
            <a:extLst>
              <a:ext uri="{FF2B5EF4-FFF2-40B4-BE49-F238E27FC236}">
                <a16:creationId xmlns:a16="http://schemas.microsoft.com/office/drawing/2014/main" id="{DD4B9CDA-6322-4AC3-95DD-370EF484E8EF}"/>
              </a:ext>
            </a:extLst>
          </p:cNvPr>
          <p:cNvPicPr>
            <a:picLocks noChangeAspect="1"/>
          </p:cNvPicPr>
          <p:nvPr/>
        </p:nvPicPr>
        <p:blipFill>
          <a:blip r:embed="rId5"/>
          <a:stretch>
            <a:fillRect/>
          </a:stretch>
        </p:blipFill>
        <p:spPr>
          <a:xfrm>
            <a:off x="3733800" y="3810000"/>
            <a:ext cx="4648200" cy="2440000"/>
          </a:xfrm>
          <a:prstGeom prst="rect">
            <a:avLst/>
          </a:prstGeom>
        </p:spPr>
      </p:pic>
      <p:pic>
        <p:nvPicPr>
          <p:cNvPr id="12" name="Picture 11">
            <a:extLst>
              <a:ext uri="{FF2B5EF4-FFF2-40B4-BE49-F238E27FC236}">
                <a16:creationId xmlns:a16="http://schemas.microsoft.com/office/drawing/2014/main" id="{36652907-AE24-4636-A55E-0BA2027AF4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56445" y="3111143"/>
            <a:ext cx="5665143" cy="3281066"/>
          </a:xfrm>
          <a:prstGeom prst="rect">
            <a:avLst/>
          </a:prstGeom>
        </p:spPr>
      </p:pic>
      <p:sp>
        <p:nvSpPr>
          <p:cNvPr id="15" name="Rectangle 14">
            <a:extLst>
              <a:ext uri="{FF2B5EF4-FFF2-40B4-BE49-F238E27FC236}">
                <a16:creationId xmlns:a16="http://schemas.microsoft.com/office/drawing/2014/main" id="{72B4F3DC-D986-495C-8E35-732550AC8104}"/>
              </a:ext>
            </a:extLst>
          </p:cNvPr>
          <p:cNvSpPr/>
          <p:nvPr/>
        </p:nvSpPr>
        <p:spPr>
          <a:xfrm>
            <a:off x="306393" y="4909823"/>
            <a:ext cx="3281421" cy="1246495"/>
          </a:xfrm>
          <a:prstGeom prst="rect">
            <a:avLst/>
          </a:prstGeom>
        </p:spPr>
        <p:txBody>
          <a:bodyPr wrap="square">
            <a:spAutoFit/>
          </a:bodyPr>
          <a:lstStyle/>
          <a:p>
            <a:r>
              <a:rPr lang="en-US" sz="1500" dirty="0"/>
              <a:t>(−)-Menthol is one of the most popular aroma compounds worldwide. While in the past mostly extracted from mint plants, today menthol is synthesized from other raw materials.</a:t>
            </a:r>
          </a:p>
        </p:txBody>
      </p:sp>
      <p:pic>
        <p:nvPicPr>
          <p:cNvPr id="63711" name="Picture 223" descr="Geraniol">
            <a:extLst>
              <a:ext uri="{FF2B5EF4-FFF2-40B4-BE49-F238E27FC236}">
                <a16:creationId xmlns:a16="http://schemas.microsoft.com/office/drawing/2014/main" id="{09FDA196-D48B-4990-8CCC-F35D3E556B4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6393" y="3228443"/>
            <a:ext cx="1588288" cy="368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51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4484B0-6138-4D9E-B1FA-193E032340CA}"/>
              </a:ext>
            </a:extLst>
          </p:cNvPr>
          <p:cNvSpPr>
            <a:spLocks noGrp="1"/>
          </p:cNvSpPr>
          <p:nvPr>
            <p:ph type="sldNum" sz="quarter" idx="12"/>
          </p:nvPr>
        </p:nvSpPr>
        <p:spPr/>
        <p:txBody>
          <a:bodyPr/>
          <a:lstStyle/>
          <a:p>
            <a:fld id="{DC92BDBB-398E-48A7-A195-B9C0665C5B2E}" type="slidenum">
              <a:rPr lang="en-US" smtClean="0"/>
              <a:pPr/>
              <a:t>5</a:t>
            </a:fld>
            <a:endParaRPr lang="en-US"/>
          </a:p>
        </p:txBody>
      </p:sp>
      <p:pic>
        <p:nvPicPr>
          <p:cNvPr id="6" name="Picture 5">
            <a:extLst>
              <a:ext uri="{FF2B5EF4-FFF2-40B4-BE49-F238E27FC236}">
                <a16:creationId xmlns:a16="http://schemas.microsoft.com/office/drawing/2014/main" id="{92083FE9-2A98-4193-BA3C-428CF533B1C0}"/>
              </a:ext>
            </a:extLst>
          </p:cNvPr>
          <p:cNvPicPr>
            <a:picLocks noChangeAspect="1"/>
          </p:cNvPicPr>
          <p:nvPr/>
        </p:nvPicPr>
        <p:blipFill>
          <a:blip r:embed="rId2"/>
          <a:stretch>
            <a:fillRect/>
          </a:stretch>
        </p:blipFill>
        <p:spPr>
          <a:xfrm>
            <a:off x="1219200" y="2590800"/>
            <a:ext cx="7239000" cy="2824638"/>
          </a:xfrm>
          <a:prstGeom prst="rect">
            <a:avLst/>
          </a:prstGeom>
        </p:spPr>
      </p:pic>
      <p:graphicFrame>
        <p:nvGraphicFramePr>
          <p:cNvPr id="7" name="Object 6">
            <a:extLst>
              <a:ext uri="{FF2B5EF4-FFF2-40B4-BE49-F238E27FC236}">
                <a16:creationId xmlns:a16="http://schemas.microsoft.com/office/drawing/2014/main" id="{A89B14C6-7530-4166-90CC-F363144FB724}"/>
              </a:ext>
            </a:extLst>
          </p:cNvPr>
          <p:cNvGraphicFramePr>
            <a:graphicFrameLocks noChangeAspect="1"/>
          </p:cNvGraphicFramePr>
          <p:nvPr>
            <p:extLst>
              <p:ext uri="{D42A27DB-BD31-4B8C-83A1-F6EECF244321}">
                <p14:modId xmlns:p14="http://schemas.microsoft.com/office/powerpoint/2010/main" val="4253022267"/>
              </p:ext>
            </p:extLst>
          </p:nvPr>
        </p:nvGraphicFramePr>
        <p:xfrm>
          <a:off x="982757" y="418916"/>
          <a:ext cx="1218115" cy="1237735"/>
        </p:xfrm>
        <a:graphic>
          <a:graphicData uri="http://schemas.openxmlformats.org/presentationml/2006/ole">
            <mc:AlternateContent xmlns:mc="http://schemas.openxmlformats.org/markup-compatibility/2006">
              <mc:Choice xmlns:v="urn:schemas-microsoft-com:vml" Requires="v">
                <p:oleObj name="CS ChemDraw Drawing" r:id="rId3" imgW="961250" imgH="976732" progId="ChemDraw.Document.6.0">
                  <p:embed/>
                </p:oleObj>
              </mc:Choice>
              <mc:Fallback>
                <p:oleObj name="CS ChemDraw Drawing" r:id="rId3" imgW="961250" imgH="976732" progId="ChemDraw.Document.6.0">
                  <p:embed/>
                  <p:pic>
                    <p:nvPicPr>
                      <p:cNvPr id="3" name="Object 2">
                        <a:extLst>
                          <a:ext uri="{FF2B5EF4-FFF2-40B4-BE49-F238E27FC236}">
                            <a16:creationId xmlns:a16="http://schemas.microsoft.com/office/drawing/2014/main" id="{4F2091A0-0F1C-41FF-99F6-874B951FD075}"/>
                          </a:ext>
                        </a:extLst>
                      </p:cNvPr>
                      <p:cNvPicPr/>
                      <p:nvPr/>
                    </p:nvPicPr>
                    <p:blipFill>
                      <a:blip r:embed="rId4"/>
                      <a:stretch>
                        <a:fillRect/>
                      </a:stretch>
                    </p:blipFill>
                    <p:spPr>
                      <a:xfrm>
                        <a:off x="982757" y="418916"/>
                        <a:ext cx="1218115" cy="1237735"/>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50DC0AB-AF83-4B45-B0FD-0A0A7F7CBE7D}"/>
              </a:ext>
            </a:extLst>
          </p:cNvPr>
          <p:cNvSpPr/>
          <p:nvPr/>
        </p:nvSpPr>
        <p:spPr>
          <a:xfrm>
            <a:off x="1132065" y="1660155"/>
            <a:ext cx="783869" cy="300082"/>
          </a:xfrm>
          <a:prstGeom prst="rect">
            <a:avLst/>
          </a:prstGeom>
        </p:spPr>
        <p:txBody>
          <a:bodyPr wrap="none">
            <a:spAutoFit/>
          </a:bodyPr>
          <a:lstStyle/>
          <a:p>
            <a:r>
              <a:rPr lang="en-US" sz="1350" dirty="0"/>
              <a:t>Geraniol</a:t>
            </a:r>
          </a:p>
        </p:txBody>
      </p:sp>
      <p:sp>
        <p:nvSpPr>
          <p:cNvPr id="9" name="Rectangle 8">
            <a:extLst>
              <a:ext uri="{FF2B5EF4-FFF2-40B4-BE49-F238E27FC236}">
                <a16:creationId xmlns:a16="http://schemas.microsoft.com/office/drawing/2014/main" id="{B7E722FB-F58E-4F17-9D59-96167890701D}"/>
              </a:ext>
            </a:extLst>
          </p:cNvPr>
          <p:cNvSpPr/>
          <p:nvPr/>
        </p:nvSpPr>
        <p:spPr>
          <a:xfrm>
            <a:off x="914400" y="381000"/>
            <a:ext cx="1354830" cy="3657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5965C99-142B-4CDB-A431-D0A5160CBCB0}"/>
              </a:ext>
            </a:extLst>
          </p:cNvPr>
          <p:cNvCxnSpPr/>
          <p:nvPr/>
        </p:nvCxnSpPr>
        <p:spPr>
          <a:xfrm>
            <a:off x="1523999" y="1905000"/>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F8ECA6E-1AD8-44C8-AFCD-70C00D602665}"/>
              </a:ext>
            </a:extLst>
          </p:cNvPr>
          <p:cNvSpPr txBox="1"/>
          <p:nvPr/>
        </p:nvSpPr>
        <p:spPr>
          <a:xfrm>
            <a:off x="1512218" y="2045352"/>
            <a:ext cx="415498" cy="369332"/>
          </a:xfrm>
          <a:prstGeom prst="rect">
            <a:avLst/>
          </a:prstGeom>
          <a:noFill/>
        </p:spPr>
        <p:txBody>
          <a:bodyPr wrap="none" rtlCol="0">
            <a:spAutoFit/>
          </a:bodyPr>
          <a:lstStyle/>
          <a:p>
            <a:r>
              <a:rPr lang="zh-CN" altLang="en-US" dirty="0"/>
              <a:t>？</a:t>
            </a:r>
            <a:endParaRPr lang="en-US" dirty="0"/>
          </a:p>
        </p:txBody>
      </p:sp>
    </p:spTree>
    <p:extLst>
      <p:ext uri="{BB962C8B-B14F-4D97-AF65-F5344CB8AC3E}">
        <p14:creationId xmlns:p14="http://schemas.microsoft.com/office/powerpoint/2010/main" val="2723558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I. Oxidation of alcohol</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6</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9" name="Picture 8" descr="17_u054">
            <a:extLst>
              <a:ext uri="{FF2B5EF4-FFF2-40B4-BE49-F238E27FC236}">
                <a16:creationId xmlns:a16="http://schemas.microsoft.com/office/drawing/2014/main" id="{1EF2E936-27FC-48B8-AA47-CC156D863E3D}"/>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04541" y="1540183"/>
            <a:ext cx="4286250" cy="250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B9A1EFC1-98D0-4CC3-85DE-50DD57F4DF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57654"/>
          <a:stretch/>
        </p:blipFill>
        <p:spPr>
          <a:xfrm>
            <a:off x="1832229" y="4687309"/>
            <a:ext cx="5479542" cy="736191"/>
          </a:xfrm>
          <a:prstGeom prst="rect">
            <a:avLst/>
          </a:prstGeom>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99098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2021854019"/>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1.1 Alcohols to aldehydes/ketones (mild oxidizing agents) </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None/>
                      </a:pPr>
                      <a:r>
                        <a:rPr lang="en-US" sz="1500" dirty="0"/>
                        <a:t>i. Dess Martin Periodinane (DMP): </a:t>
                      </a:r>
                      <a:r>
                        <a:rPr lang="en-US" sz="1500" b="1" dirty="0">
                          <a:solidFill>
                            <a:srgbClr val="FF0000"/>
                          </a:solidFill>
                        </a:rPr>
                        <a:t>“I-O” as the oxidant</a:t>
                      </a:r>
                    </a:p>
                    <a:p>
                      <a:pPr marL="0" indent="0">
                        <a:buNone/>
                      </a:pPr>
                      <a:r>
                        <a:rPr lang="en-US" sz="1500" dirty="0"/>
                        <a:t>Reported in 1983 by D.B Dess and J.C Martin and emerged as a popular choice for oxidation of alcohols to the corresponding carbonyl compounds</a:t>
                      </a:r>
                    </a:p>
                    <a:p>
                      <a:pPr marL="0" indent="0">
                        <a:buNone/>
                      </a:pPr>
                      <a:r>
                        <a:rPr lang="en-US" sz="1500" dirty="0"/>
                        <a:t>Reagent: </a:t>
                      </a:r>
                      <a:r>
                        <a:rPr lang="en-US" sz="1500" dirty="0" err="1"/>
                        <a:t>pentacoodinate</a:t>
                      </a:r>
                      <a:r>
                        <a:rPr lang="en-US" sz="1500" dirty="0"/>
                        <a:t> iodine (V)</a:t>
                      </a:r>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7</a:t>
            </a:fld>
            <a:endParaRPr lang="en-US"/>
          </a:p>
        </p:txBody>
      </p:sp>
      <p:pic>
        <p:nvPicPr>
          <p:cNvPr id="8" name="Picture 6" descr="17_u055">
            <a:extLst>
              <a:ext uri="{FF2B5EF4-FFF2-40B4-BE49-F238E27FC236}">
                <a16:creationId xmlns:a16="http://schemas.microsoft.com/office/drawing/2014/main" id="{E455DD79-9A26-4D21-91BC-7E4FEC0FD06E}"/>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6982" y="1957568"/>
            <a:ext cx="4286250" cy="21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2F753CA-5741-448B-93D4-63A6D643F6B9}"/>
              </a:ext>
            </a:extLst>
          </p:cNvPr>
          <p:cNvSpPr/>
          <p:nvPr/>
        </p:nvSpPr>
        <p:spPr>
          <a:xfrm>
            <a:off x="391812" y="2991092"/>
            <a:ext cx="3771900" cy="2169825"/>
          </a:xfrm>
          <a:prstGeom prst="rect">
            <a:avLst/>
          </a:prstGeom>
        </p:spPr>
        <p:txBody>
          <a:bodyPr wrap="square">
            <a:spAutoFit/>
          </a:bodyPr>
          <a:lstStyle/>
          <a:p>
            <a:r>
              <a:rPr lang="en-US" sz="1500" dirty="0"/>
              <a:t>Advantages:</a:t>
            </a:r>
          </a:p>
          <a:p>
            <a:pPr marL="257175" indent="-257175">
              <a:buFont typeface="+mj-lt"/>
              <a:buAutoNum type="arabicPeriod"/>
            </a:pPr>
            <a:r>
              <a:rPr lang="en-US" sz="1500" dirty="0"/>
              <a:t>Hypervalent iodine reagents have received particular attention because of their </a:t>
            </a:r>
            <a:r>
              <a:rPr lang="en-US" sz="1500" dirty="0">
                <a:solidFill>
                  <a:srgbClr val="FF0000"/>
                </a:solidFill>
              </a:rPr>
              <a:t>low toxicity, a favorable safety profile, easy handling</a:t>
            </a:r>
            <a:r>
              <a:rPr lang="en-US" sz="1500" dirty="0"/>
              <a:t>, and an environmentally friendly nature</a:t>
            </a:r>
            <a:endParaRPr lang="en-SG" sz="1500" dirty="0"/>
          </a:p>
          <a:p>
            <a:pPr marL="257175" indent="-257175">
              <a:buFont typeface="+mj-lt"/>
              <a:buAutoNum type="arabicPeriod"/>
            </a:pPr>
            <a:r>
              <a:rPr lang="en-US" sz="1500" dirty="0"/>
              <a:t>Mild reaction conditions (temp, neutral)</a:t>
            </a:r>
          </a:p>
          <a:p>
            <a:pPr marL="257175" indent="-257175">
              <a:buFont typeface="+mj-lt"/>
              <a:buAutoNum type="arabicPeriod"/>
            </a:pPr>
            <a:r>
              <a:rPr lang="en-US" sz="1500" dirty="0">
                <a:solidFill>
                  <a:srgbClr val="FF0000"/>
                </a:solidFill>
              </a:rPr>
              <a:t>Tolerance of sensitive functional groups </a:t>
            </a:r>
            <a:r>
              <a:rPr lang="en-US" sz="1500" dirty="0"/>
              <a:t>on complex substrates</a:t>
            </a:r>
          </a:p>
        </p:txBody>
      </p:sp>
      <p:pic>
        <p:nvPicPr>
          <p:cNvPr id="9" name="Picture 8">
            <a:extLst>
              <a:ext uri="{FF2B5EF4-FFF2-40B4-BE49-F238E27FC236}">
                <a16:creationId xmlns:a16="http://schemas.microsoft.com/office/drawing/2014/main" id="{991A92CC-A9FF-4ED8-9F4B-A39C1F745C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668" y="4610069"/>
            <a:ext cx="4535995" cy="1424303"/>
          </a:xfrm>
          <a:prstGeom prst="rect">
            <a:avLst/>
          </a:prstGeom>
        </p:spPr>
      </p:pic>
      <p:sp>
        <p:nvSpPr>
          <p:cNvPr id="3" name="Rectangle 2">
            <a:extLst>
              <a:ext uri="{FF2B5EF4-FFF2-40B4-BE49-F238E27FC236}">
                <a16:creationId xmlns:a16="http://schemas.microsoft.com/office/drawing/2014/main" id="{F0405A0B-BA39-4F13-9413-313263FAD4F3}"/>
              </a:ext>
            </a:extLst>
          </p:cNvPr>
          <p:cNvSpPr/>
          <p:nvPr/>
        </p:nvSpPr>
        <p:spPr>
          <a:xfrm>
            <a:off x="4276983" y="4272013"/>
            <a:ext cx="1008609" cy="300082"/>
          </a:xfrm>
          <a:prstGeom prst="rect">
            <a:avLst/>
          </a:prstGeom>
        </p:spPr>
        <p:txBody>
          <a:bodyPr wrap="none">
            <a:spAutoFit/>
          </a:bodyPr>
          <a:lstStyle/>
          <a:p>
            <a:r>
              <a:rPr lang="en-US" sz="1350" b="1" dirty="0"/>
              <a:t>mechanism</a:t>
            </a:r>
            <a:endParaRPr lang="en-US" sz="1350" dirty="0"/>
          </a:p>
        </p:txBody>
      </p:sp>
    </p:spTree>
    <p:extLst>
      <p:ext uri="{BB962C8B-B14F-4D97-AF65-F5344CB8AC3E}">
        <p14:creationId xmlns:p14="http://schemas.microsoft.com/office/powerpoint/2010/main" val="415603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683720328"/>
              </p:ext>
            </p:extLst>
          </p:nvPr>
        </p:nvGraphicFramePr>
        <p:xfrm>
          <a:off x="580768" y="890588"/>
          <a:ext cx="8171420" cy="5074920"/>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Mild oxidizing agents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640580">
                <a:tc>
                  <a:txBody>
                    <a:bodyPr/>
                    <a:lstStyle/>
                    <a:p>
                      <a:pPr marL="0" indent="0">
                        <a:buNone/>
                      </a:pPr>
                      <a:r>
                        <a:rPr lang="en-US" sz="1500" dirty="0"/>
                        <a:t>ii. </a:t>
                      </a:r>
                      <a:r>
                        <a:rPr lang="en-US" sz="1500" dirty="0" err="1"/>
                        <a:t>Swern</a:t>
                      </a:r>
                      <a:r>
                        <a:rPr lang="en-US" sz="1500" dirty="0"/>
                        <a:t> oxidation (1976) </a:t>
                      </a:r>
                      <a:r>
                        <a:rPr lang="en-US" sz="1500" b="1" dirty="0">
                          <a:solidFill>
                            <a:srgbClr val="FF0000"/>
                          </a:solidFill>
                        </a:rPr>
                        <a:t>“S-Cl” as the oxidant</a:t>
                      </a:r>
                      <a:endParaRPr lang="en-US" sz="1500" dirty="0"/>
                    </a:p>
                    <a:p>
                      <a:pPr marL="342900" indent="-342900">
                        <a:buFont typeface="Arial" panose="020B0604020202020204" pitchFamily="34" charset="0"/>
                        <a:buChar char="•"/>
                      </a:pPr>
                      <a:r>
                        <a:rPr lang="en-US" sz="1500" dirty="0"/>
                        <a:t>Reagents: dimethyl sulfoxide (DMSO) and oxalyl chloride (</a:t>
                      </a:r>
                      <a:r>
                        <a:rPr lang="en-US" sz="1500" dirty="0" err="1"/>
                        <a:t>COCl</a:t>
                      </a:r>
                      <a:r>
                        <a:rPr lang="en-US" sz="1500" dirty="0"/>
                        <a:t>)</a:t>
                      </a:r>
                      <a:r>
                        <a:rPr lang="en-US" sz="1500" baseline="-25000" dirty="0"/>
                        <a:t>2</a:t>
                      </a:r>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r>
                        <a:rPr lang="en-US" sz="1500" baseline="0" dirty="0"/>
                        <a:t>Oxidize primary alcohols to aldehydes and secondary alcohols to ketones</a:t>
                      </a:r>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342900" indent="-342900">
                        <a:buFont typeface="Arial" panose="020B0604020202020204" pitchFamily="34" charset="0"/>
                        <a:buChar char="•"/>
                      </a:pPr>
                      <a:endParaRPr lang="en-US" sz="1500" baseline="0" dirty="0"/>
                    </a:p>
                    <a:p>
                      <a:pPr marL="0" indent="0">
                        <a:buFont typeface="Arial" panose="020B0604020202020204" pitchFamily="34" charset="0"/>
                        <a:buNone/>
                      </a:pPr>
                      <a:endParaRPr lang="en-US" sz="1500" baseline="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8</a:t>
            </a:fld>
            <a:endParaRPr lang="en-US"/>
          </a:p>
        </p:txBody>
      </p:sp>
      <p:pic>
        <p:nvPicPr>
          <p:cNvPr id="9" name="Picture Placeholder 4" descr="An illustration shows two chemical reactions. In the first reaction, the reactant that has a SMILES string of c1ccc(cc1)CO reacts with D M S O, (C O C l) 2 at low temperature in the first step and E t 2 N in the second step to yield a product that has a SMILES string of c1ccc(cc1)C=O. A text beside reads, Swern oxidation of a primary alcohol to an aldehyde. In the second reaction, the reactant that has a SMILES string of C1CCC(CC1)O reacts with D M S O, (C O C l) 2 at low temperature in the first step and E t 2 N in the second step to yield a product that has a SMILES string of C1CCC(=O)CC1. A text beside reads, Swern oxidation of a secondary alcohol to a ketone.">
            <a:extLst>
              <a:ext uri="{FF2B5EF4-FFF2-40B4-BE49-F238E27FC236}">
                <a16:creationId xmlns:a16="http://schemas.microsoft.com/office/drawing/2014/main" id="{6AF68E9E-3976-41B3-ACAA-C47732E7FDAC}"/>
              </a:ext>
            </a:extLst>
          </p:cNvPr>
          <p:cNvPicPr>
            <a:picLocks noChangeAspect="1"/>
          </p:cNvPicPr>
          <p:nvPr/>
        </p:nvPicPr>
        <p:blipFill>
          <a:blip r:embed="rId3"/>
          <a:stretch>
            <a:fillRect/>
          </a:stretch>
        </p:blipFill>
        <p:spPr>
          <a:xfrm>
            <a:off x="2117452" y="4028509"/>
            <a:ext cx="4340498" cy="1271346"/>
          </a:xfrm>
          <a:prstGeom prst="rect">
            <a:avLst/>
          </a:prstGeom>
        </p:spPr>
      </p:pic>
      <p:pic>
        <p:nvPicPr>
          <p:cNvPr id="12292" name="Picture 4" descr="The Swern Oxidation: Mechanism and Features - Chemistry Hall">
            <a:extLst>
              <a:ext uri="{FF2B5EF4-FFF2-40B4-BE49-F238E27FC236}">
                <a16:creationId xmlns:a16="http://schemas.microsoft.com/office/drawing/2014/main" id="{B60F4625-B991-49BF-824E-AF826BED40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805" y="1858621"/>
            <a:ext cx="5583791" cy="154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602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601926982"/>
              </p:ext>
            </p:extLst>
          </p:nvPr>
        </p:nvGraphicFramePr>
        <p:xfrm>
          <a:off x="580768" y="890588"/>
          <a:ext cx="8171420" cy="5532120"/>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Mild oxidizing agents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None/>
                      </a:pPr>
                      <a:r>
                        <a:rPr lang="en-US" sz="1500" dirty="0" err="1"/>
                        <a:t>Swern</a:t>
                      </a:r>
                      <a:r>
                        <a:rPr lang="en-US" sz="1500" dirty="0"/>
                        <a:t> oxidation</a:t>
                      </a:r>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r>
                        <a:rPr lang="en-US" sz="1500" dirty="0"/>
                        <a:t>More examples: </a:t>
                      </a:r>
                      <a:r>
                        <a:rPr lang="en-US" sz="1500" dirty="0">
                          <a:hlinkClick r:id="rId3"/>
                        </a:rPr>
                        <a:t>https://synarchive.com/named-reactions/swern-oxidation</a:t>
                      </a: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9</a:t>
            </a:fld>
            <a:endParaRPr lang="en-US"/>
          </a:p>
        </p:txBody>
      </p:sp>
      <p:pic>
        <p:nvPicPr>
          <p:cNvPr id="2" name="Picture 1">
            <a:extLst>
              <a:ext uri="{FF2B5EF4-FFF2-40B4-BE49-F238E27FC236}">
                <a16:creationId xmlns:a16="http://schemas.microsoft.com/office/drawing/2014/main" id="{8953B80C-678F-4157-8F87-3E114CE056B2}"/>
              </a:ext>
            </a:extLst>
          </p:cNvPr>
          <p:cNvPicPr>
            <a:picLocks noChangeAspect="1"/>
          </p:cNvPicPr>
          <p:nvPr/>
        </p:nvPicPr>
        <p:blipFill>
          <a:blip r:embed="rId4"/>
          <a:stretch>
            <a:fillRect/>
          </a:stretch>
        </p:blipFill>
        <p:spPr>
          <a:xfrm>
            <a:off x="2438400" y="3476094"/>
            <a:ext cx="3886200" cy="2545587"/>
          </a:xfrm>
          <a:prstGeom prst="rect">
            <a:avLst/>
          </a:prstGeom>
        </p:spPr>
      </p:pic>
      <p:sp>
        <p:nvSpPr>
          <p:cNvPr id="3" name="Rectangle 2">
            <a:extLst>
              <a:ext uri="{FF2B5EF4-FFF2-40B4-BE49-F238E27FC236}">
                <a16:creationId xmlns:a16="http://schemas.microsoft.com/office/drawing/2014/main" id="{6EC924ED-BEB6-4F6A-8412-1367A761B3C9}"/>
              </a:ext>
            </a:extLst>
          </p:cNvPr>
          <p:cNvSpPr/>
          <p:nvPr/>
        </p:nvSpPr>
        <p:spPr>
          <a:xfrm>
            <a:off x="580768" y="1676400"/>
            <a:ext cx="8106032" cy="584775"/>
          </a:xfrm>
          <a:prstGeom prst="rect">
            <a:avLst/>
          </a:prstGeom>
        </p:spPr>
        <p:txBody>
          <a:bodyPr wrap="square">
            <a:spAutoFit/>
          </a:bodyPr>
          <a:lstStyle/>
          <a:p>
            <a:pPr marL="342900" indent="-342900">
              <a:buFont typeface="Arial" panose="020B0604020202020204" pitchFamily="34" charset="0"/>
              <a:buChar char="•"/>
            </a:pPr>
            <a:r>
              <a:rPr lang="en-US" sz="1600" dirty="0"/>
              <a:t>The reagents are abundant and much more affordable than DMP. The reaction produces dimethyl sulfide  ((CH</a:t>
            </a:r>
            <a:r>
              <a:rPr lang="en-US" sz="1600" baseline="-25000" dirty="0"/>
              <a:t>3</a:t>
            </a:r>
            <a:r>
              <a:rPr lang="en-US" sz="1600" dirty="0"/>
              <a:t>)</a:t>
            </a:r>
            <a:r>
              <a:rPr lang="en-US" sz="1600" baseline="-25000" dirty="0"/>
              <a:t>2</a:t>
            </a:r>
            <a:r>
              <a:rPr lang="en-US" sz="1600" dirty="0"/>
              <a:t>S), carbon monoxide (CO), carbon dioxide (CO</a:t>
            </a:r>
            <a:r>
              <a:rPr lang="en-US" sz="1600" baseline="-25000" dirty="0"/>
              <a:t>2</a:t>
            </a:r>
            <a:r>
              <a:rPr lang="en-US" sz="1600" dirty="0"/>
              <a:t>) as by-products.</a:t>
            </a:r>
          </a:p>
        </p:txBody>
      </p:sp>
      <p:pic>
        <p:nvPicPr>
          <p:cNvPr id="5" name="Picture 4">
            <a:extLst>
              <a:ext uri="{FF2B5EF4-FFF2-40B4-BE49-F238E27FC236}">
                <a16:creationId xmlns:a16="http://schemas.microsoft.com/office/drawing/2014/main" id="{E575DFAA-CE14-40F8-8372-5E748F999BA4}"/>
              </a:ext>
            </a:extLst>
          </p:cNvPr>
          <p:cNvPicPr>
            <a:picLocks noChangeAspect="1"/>
          </p:cNvPicPr>
          <p:nvPr/>
        </p:nvPicPr>
        <p:blipFill>
          <a:blip r:embed="rId5"/>
          <a:stretch>
            <a:fillRect/>
          </a:stretch>
        </p:blipFill>
        <p:spPr>
          <a:xfrm>
            <a:off x="1420906" y="2261175"/>
            <a:ext cx="6172200" cy="1012874"/>
          </a:xfrm>
          <a:prstGeom prst="rect">
            <a:avLst/>
          </a:prstGeom>
        </p:spPr>
      </p:pic>
    </p:spTree>
    <p:extLst>
      <p:ext uri="{BB962C8B-B14F-4D97-AF65-F5344CB8AC3E}">
        <p14:creationId xmlns:p14="http://schemas.microsoft.com/office/powerpoint/2010/main" val="306148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346736289"/>
              </p:ext>
            </p:extLst>
          </p:nvPr>
        </p:nvGraphicFramePr>
        <p:xfrm>
          <a:off x="580768" y="890588"/>
          <a:ext cx="8171420" cy="4846320"/>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Metal oxides as mild oxidants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US" sz="1500" dirty="0"/>
                        <a:t>iii. TPAP/NMO </a:t>
                      </a:r>
                      <a:r>
                        <a:rPr lang="en-US" sz="1500" b="1" dirty="0">
                          <a:solidFill>
                            <a:srgbClr val="FF0000"/>
                          </a:solidFill>
                        </a:rPr>
                        <a:t>“Ru-O” as the oxidant</a:t>
                      </a:r>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t>iv. Manganese dioxide (MnO</a:t>
                      </a:r>
                      <a:r>
                        <a:rPr lang="en-US" sz="1500" b="0" baseline="-25000" dirty="0"/>
                        <a:t>2</a:t>
                      </a:r>
                      <a:r>
                        <a:rPr lang="en-US" sz="1500" b="0" dirty="0"/>
                        <a:t>) </a:t>
                      </a:r>
                      <a:r>
                        <a:rPr lang="en-US" sz="1500" b="1" dirty="0">
                          <a:solidFill>
                            <a:srgbClr val="FF0000"/>
                          </a:solidFill>
                        </a:rPr>
                        <a:t>“Mn-O” as the oxidant</a:t>
                      </a:r>
                      <a:endParaRPr lang="en-US" sz="1500" b="0" dirty="0"/>
                    </a:p>
                    <a:p>
                      <a:pPr marL="342900" indent="-342900">
                        <a:buFont typeface="Arial" panose="020B0604020202020204" pitchFamily="34" charset="0"/>
                        <a:buChar char="•"/>
                      </a:pPr>
                      <a:r>
                        <a:rPr lang="en-US" sz="1500" dirty="0"/>
                        <a:t>MnO</a:t>
                      </a:r>
                      <a:r>
                        <a:rPr lang="en-US" sz="1500" baseline="-25000" dirty="0"/>
                        <a:t>2</a:t>
                      </a:r>
                      <a:r>
                        <a:rPr lang="en-US" sz="1500" dirty="0"/>
                        <a:t>: very mild </a:t>
                      </a:r>
                      <a:r>
                        <a:rPr lang="en-US" sz="1500" dirty="0">
                          <a:highlight>
                            <a:srgbClr val="FFFF00"/>
                          </a:highlight>
                        </a:rPr>
                        <a:t>oxidizing</a:t>
                      </a:r>
                      <a:r>
                        <a:rPr lang="en-US" sz="1500" dirty="0"/>
                        <a:t> reagent</a:t>
                      </a:r>
                    </a:p>
                    <a:p>
                      <a:pPr marL="342900" indent="-342900">
                        <a:buFont typeface="Arial" panose="020B0604020202020204" pitchFamily="34" charset="0"/>
                        <a:buChar char="•"/>
                      </a:pPr>
                      <a:r>
                        <a:rPr lang="en-US" sz="1500" dirty="0"/>
                        <a:t>Selectively oxidizes </a:t>
                      </a:r>
                      <a:r>
                        <a:rPr lang="en-US" sz="1500" b="1" dirty="0"/>
                        <a:t>allylic and benzylic alcohols </a:t>
                      </a:r>
                      <a:r>
                        <a:rPr lang="en-US" sz="1500" dirty="0"/>
                        <a:t>to aldehydes and ketones</a:t>
                      </a:r>
                    </a:p>
                    <a:p>
                      <a:endParaRPr lang="en-US" sz="1500" dirty="0"/>
                    </a:p>
                    <a:p>
                      <a:endParaRPr lang="en-US" sz="1500" dirty="0"/>
                    </a:p>
                    <a:p>
                      <a:endParaRPr lang="en-US" sz="1500" dirty="0"/>
                    </a:p>
                    <a:p>
                      <a:endParaRPr lang="en-US" sz="1500" dirty="0"/>
                    </a:p>
                    <a:p>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10</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9" name="Picture 2">
            <a:extLst>
              <a:ext uri="{FF2B5EF4-FFF2-40B4-BE49-F238E27FC236}">
                <a16:creationId xmlns:a16="http://schemas.microsoft.com/office/drawing/2014/main" id="{25CFC6BA-C2FE-4734-A0C1-9CA14DE1C9FD}"/>
              </a:ext>
            </a:extLst>
          </p:cNvPr>
          <p:cNvPicPr>
            <a:picLocks noChangeAspect="1" noChangeArrowheads="1"/>
          </p:cNvPicPr>
          <p:nvPr/>
        </p:nvPicPr>
        <p:blipFill>
          <a:blip r:embed="rId3" cstate="print"/>
          <a:srcRect/>
          <a:stretch>
            <a:fillRect/>
          </a:stretch>
        </p:blipFill>
        <p:spPr bwMode="auto">
          <a:xfrm>
            <a:off x="1142773" y="1862431"/>
            <a:ext cx="2854643" cy="934403"/>
          </a:xfrm>
          <a:prstGeom prst="rect">
            <a:avLst/>
          </a:prstGeom>
          <a:noFill/>
          <a:ln w="9525">
            <a:noFill/>
            <a:miter lim="800000"/>
            <a:headEnd/>
            <a:tailEnd/>
          </a:ln>
        </p:spPr>
      </p:pic>
      <p:pic>
        <p:nvPicPr>
          <p:cNvPr id="10" name="Picture 9">
            <a:extLst>
              <a:ext uri="{FF2B5EF4-FFF2-40B4-BE49-F238E27FC236}">
                <a16:creationId xmlns:a16="http://schemas.microsoft.com/office/drawing/2014/main" id="{02D3132C-1CBA-47D1-828C-E152BE25179D}"/>
              </a:ext>
            </a:extLst>
          </p:cNvPr>
          <p:cNvPicPr>
            <a:picLocks noChangeAspect="1"/>
          </p:cNvPicPr>
          <p:nvPr/>
        </p:nvPicPr>
        <p:blipFill>
          <a:blip r:embed="rId4" cstate="print"/>
          <a:srcRect/>
          <a:stretch>
            <a:fillRect/>
          </a:stretch>
        </p:blipFill>
        <p:spPr bwMode="auto">
          <a:xfrm>
            <a:off x="4515442" y="1448411"/>
            <a:ext cx="1492892" cy="881221"/>
          </a:xfrm>
          <a:prstGeom prst="rect">
            <a:avLst/>
          </a:prstGeom>
          <a:noFill/>
          <a:ln>
            <a:miter lim="800000"/>
            <a:headEnd/>
            <a:tailEnd/>
          </a:ln>
        </p:spPr>
      </p:pic>
      <p:pic>
        <p:nvPicPr>
          <p:cNvPr id="11" name="Picture 10">
            <a:extLst>
              <a:ext uri="{FF2B5EF4-FFF2-40B4-BE49-F238E27FC236}">
                <a16:creationId xmlns:a16="http://schemas.microsoft.com/office/drawing/2014/main" id="{8AA03448-5DA8-4D24-8034-1EE44B600733}"/>
              </a:ext>
            </a:extLst>
          </p:cNvPr>
          <p:cNvPicPr>
            <a:picLocks noChangeAspect="1"/>
          </p:cNvPicPr>
          <p:nvPr/>
        </p:nvPicPr>
        <p:blipFill>
          <a:blip r:embed="rId5" cstate="print"/>
          <a:srcRect l="52724"/>
          <a:stretch>
            <a:fillRect/>
          </a:stretch>
        </p:blipFill>
        <p:spPr bwMode="auto">
          <a:xfrm>
            <a:off x="4138895" y="2556479"/>
            <a:ext cx="3161133" cy="1052080"/>
          </a:xfrm>
          <a:prstGeom prst="rect">
            <a:avLst/>
          </a:prstGeom>
          <a:noFill/>
          <a:ln>
            <a:miter lim="800000"/>
            <a:headEnd/>
            <a:tailEnd/>
          </a:ln>
        </p:spPr>
      </p:pic>
      <p:pic>
        <p:nvPicPr>
          <p:cNvPr id="3" name="Picture 2">
            <a:extLst>
              <a:ext uri="{FF2B5EF4-FFF2-40B4-BE49-F238E27FC236}">
                <a16:creationId xmlns:a16="http://schemas.microsoft.com/office/drawing/2014/main" id="{A4BAFA4D-6857-478F-8A59-267A89D8B089}"/>
              </a:ext>
            </a:extLst>
          </p:cNvPr>
          <p:cNvPicPr>
            <a:picLocks noChangeAspect="1"/>
          </p:cNvPicPr>
          <p:nvPr/>
        </p:nvPicPr>
        <p:blipFill rotWithShape="1">
          <a:blip r:embed="rId6"/>
          <a:srcRect l="1474" t="-21379" r="-1474" b="21379"/>
          <a:stretch/>
        </p:blipFill>
        <p:spPr>
          <a:xfrm>
            <a:off x="1068496" y="4572432"/>
            <a:ext cx="3840480" cy="1013008"/>
          </a:xfrm>
          <a:prstGeom prst="rect">
            <a:avLst/>
          </a:prstGeom>
        </p:spPr>
      </p:pic>
      <p:grpSp>
        <p:nvGrpSpPr>
          <p:cNvPr id="8" name="Group 7">
            <a:extLst>
              <a:ext uri="{FF2B5EF4-FFF2-40B4-BE49-F238E27FC236}">
                <a16:creationId xmlns:a16="http://schemas.microsoft.com/office/drawing/2014/main" id="{0C988521-96D5-4E47-9596-AFD64188ED4E}"/>
              </a:ext>
            </a:extLst>
          </p:cNvPr>
          <p:cNvGrpSpPr/>
          <p:nvPr/>
        </p:nvGrpSpPr>
        <p:grpSpPr>
          <a:xfrm>
            <a:off x="5807137" y="4818301"/>
            <a:ext cx="2510321" cy="644366"/>
            <a:chOff x="7874777" y="5268342"/>
            <a:chExt cx="3347094" cy="859155"/>
          </a:xfrm>
        </p:grpSpPr>
        <p:pic>
          <p:nvPicPr>
            <p:cNvPr id="12" name="Picture 3">
              <a:extLst>
                <a:ext uri="{FF2B5EF4-FFF2-40B4-BE49-F238E27FC236}">
                  <a16:creationId xmlns:a16="http://schemas.microsoft.com/office/drawing/2014/main" id="{8A44BFE8-7E6D-49C3-A14E-1BC3426C611F}"/>
                </a:ext>
              </a:extLst>
            </p:cNvPr>
            <p:cNvPicPr>
              <a:picLocks noChangeAspect="1" noChangeArrowheads="1"/>
            </p:cNvPicPr>
            <p:nvPr/>
          </p:nvPicPr>
          <p:blipFill rotWithShape="1">
            <a:blip r:embed="rId7" cstate="print"/>
            <a:srcRect l="56179"/>
            <a:stretch/>
          </p:blipFill>
          <p:spPr bwMode="auto">
            <a:xfrm>
              <a:off x="7874778" y="5268342"/>
              <a:ext cx="3347093" cy="859155"/>
            </a:xfrm>
            <a:prstGeom prst="rect">
              <a:avLst/>
            </a:prstGeom>
            <a:solidFill>
              <a:schemeClr val="bg1"/>
            </a:solidFill>
            <a:ln w="9525">
              <a:solidFill>
                <a:schemeClr val="bg1"/>
              </a:solidFill>
              <a:miter lim="800000"/>
              <a:headEnd/>
              <a:tailEnd/>
            </a:ln>
          </p:spPr>
        </p:pic>
        <p:sp>
          <p:nvSpPr>
            <p:cNvPr id="5" name="Rectangle 4">
              <a:extLst>
                <a:ext uri="{FF2B5EF4-FFF2-40B4-BE49-F238E27FC236}">
                  <a16:creationId xmlns:a16="http://schemas.microsoft.com/office/drawing/2014/main" id="{6F69DFF0-305B-4E43-B961-004DE2012693}"/>
                </a:ext>
              </a:extLst>
            </p:cNvPr>
            <p:cNvSpPr/>
            <p:nvPr/>
          </p:nvSpPr>
          <p:spPr>
            <a:xfrm>
              <a:off x="7874777" y="5276995"/>
              <a:ext cx="326901" cy="439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a:p>
          </p:txBody>
        </p:sp>
      </p:grpSp>
      <p:sp>
        <p:nvSpPr>
          <p:cNvPr id="13" name="Rectangle 12">
            <a:extLst>
              <a:ext uri="{FF2B5EF4-FFF2-40B4-BE49-F238E27FC236}">
                <a16:creationId xmlns:a16="http://schemas.microsoft.com/office/drawing/2014/main" id="{C6DD3C0B-BF75-4D8D-BE23-E8B7640D7C89}"/>
              </a:ext>
            </a:extLst>
          </p:cNvPr>
          <p:cNvSpPr/>
          <p:nvPr/>
        </p:nvSpPr>
        <p:spPr>
          <a:xfrm>
            <a:off x="1600200" y="2818730"/>
            <a:ext cx="1806970" cy="300082"/>
          </a:xfrm>
          <a:prstGeom prst="rect">
            <a:avLst/>
          </a:prstGeom>
        </p:spPr>
        <p:txBody>
          <a:bodyPr wrap="none">
            <a:spAutoFit/>
          </a:bodyPr>
          <a:lstStyle/>
          <a:p>
            <a:r>
              <a:rPr lang="en-SG" sz="1350" dirty="0">
                <a:latin typeface="Roboto" panose="02000000000000000000" pitchFamily="2" charset="0"/>
              </a:rPr>
              <a:t>Ley-Griffith Oxidation</a:t>
            </a:r>
          </a:p>
        </p:txBody>
      </p:sp>
      <p:sp>
        <p:nvSpPr>
          <p:cNvPr id="14" name="TextBox 13">
            <a:extLst>
              <a:ext uri="{FF2B5EF4-FFF2-40B4-BE49-F238E27FC236}">
                <a16:creationId xmlns:a16="http://schemas.microsoft.com/office/drawing/2014/main" id="{E3353B34-A85F-494C-B3A1-E5F6B9C0B335}"/>
              </a:ext>
            </a:extLst>
          </p:cNvPr>
          <p:cNvSpPr txBox="1"/>
          <p:nvPr/>
        </p:nvSpPr>
        <p:spPr>
          <a:xfrm>
            <a:off x="6074725" y="1775036"/>
            <a:ext cx="2998558" cy="523220"/>
          </a:xfrm>
          <a:prstGeom prst="rect">
            <a:avLst/>
          </a:prstGeom>
          <a:noFill/>
        </p:spPr>
        <p:txBody>
          <a:bodyPr wrap="square" rtlCol="0">
            <a:spAutoFit/>
          </a:bodyPr>
          <a:lstStyle/>
          <a:p>
            <a:r>
              <a:rPr lang="en-US" sz="1400" dirty="0"/>
              <a:t>(TPAP can be used in catalytic amount using NMO as the terminal oxidant)</a:t>
            </a:r>
          </a:p>
        </p:txBody>
      </p:sp>
    </p:spTree>
    <p:extLst>
      <p:ext uri="{BB962C8B-B14F-4D97-AF65-F5344CB8AC3E}">
        <p14:creationId xmlns:p14="http://schemas.microsoft.com/office/powerpoint/2010/main" val="2532739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2882063593"/>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Mild oxidizing agents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iv. TEMPO oxidation </a:t>
                      </a:r>
                      <a:r>
                        <a:rPr lang="en-US" sz="1500" b="1" dirty="0">
                          <a:solidFill>
                            <a:srgbClr val="FF0000"/>
                          </a:solidFill>
                        </a:rPr>
                        <a:t>“N-O” as the oxidant</a:t>
                      </a:r>
                      <a:endParaRPr lang="en-US" sz="1500" dirty="0"/>
                    </a:p>
                    <a:p>
                      <a:pPr marL="0" indent="0">
                        <a:buNone/>
                      </a:pPr>
                      <a:endParaRPr 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Sodium hypochlorite (</a:t>
                      </a:r>
                      <a:r>
                        <a:rPr lang="en-US" sz="1600" dirty="0" err="1"/>
                        <a:t>NaOCl</a:t>
                      </a:r>
                      <a:r>
                        <a:rPr lang="en-US" sz="1600" dirty="0"/>
                        <a:t>, or bleach) is used as the terminal oxidant, TEMPO as the catalyst</a:t>
                      </a:r>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11</a:t>
            </a:fld>
            <a:endParaRPr lang="en-US"/>
          </a:p>
        </p:txBody>
      </p:sp>
      <p:pic>
        <p:nvPicPr>
          <p:cNvPr id="8" name="Picture 7">
            <a:extLst>
              <a:ext uri="{FF2B5EF4-FFF2-40B4-BE49-F238E27FC236}">
                <a16:creationId xmlns:a16="http://schemas.microsoft.com/office/drawing/2014/main" id="{46293787-E855-4FA4-AFE5-048902E779B4}"/>
              </a:ext>
            </a:extLst>
          </p:cNvPr>
          <p:cNvPicPr>
            <a:picLocks noChangeAspect="1"/>
          </p:cNvPicPr>
          <p:nvPr/>
        </p:nvPicPr>
        <p:blipFill>
          <a:blip r:embed="rId3"/>
          <a:stretch>
            <a:fillRect/>
          </a:stretch>
        </p:blipFill>
        <p:spPr>
          <a:xfrm>
            <a:off x="3491753" y="2302468"/>
            <a:ext cx="5181600" cy="2352664"/>
          </a:xfrm>
          <a:prstGeom prst="rect">
            <a:avLst/>
          </a:prstGeom>
        </p:spPr>
      </p:pic>
      <p:pic>
        <p:nvPicPr>
          <p:cNvPr id="9" name="Picture 8">
            <a:extLst>
              <a:ext uri="{FF2B5EF4-FFF2-40B4-BE49-F238E27FC236}">
                <a16:creationId xmlns:a16="http://schemas.microsoft.com/office/drawing/2014/main" id="{122ABAE4-FEF7-45C7-9E6B-E8F33D85A5FB}"/>
              </a:ext>
            </a:extLst>
          </p:cNvPr>
          <p:cNvPicPr>
            <a:picLocks noChangeAspect="1"/>
          </p:cNvPicPr>
          <p:nvPr/>
        </p:nvPicPr>
        <p:blipFill>
          <a:blip r:embed="rId4"/>
          <a:stretch>
            <a:fillRect/>
          </a:stretch>
        </p:blipFill>
        <p:spPr>
          <a:xfrm>
            <a:off x="824753" y="2436022"/>
            <a:ext cx="1828800" cy="1606132"/>
          </a:xfrm>
          <a:prstGeom prst="rect">
            <a:avLst/>
          </a:prstGeom>
        </p:spPr>
      </p:pic>
      <p:sp>
        <p:nvSpPr>
          <p:cNvPr id="3" name="Rectangle 2">
            <a:extLst>
              <a:ext uri="{FF2B5EF4-FFF2-40B4-BE49-F238E27FC236}">
                <a16:creationId xmlns:a16="http://schemas.microsoft.com/office/drawing/2014/main" id="{6DA23703-6243-4C5B-8603-878E9783691C}"/>
              </a:ext>
            </a:extLst>
          </p:cNvPr>
          <p:cNvSpPr/>
          <p:nvPr/>
        </p:nvSpPr>
        <p:spPr>
          <a:xfrm>
            <a:off x="5696068" y="3442447"/>
            <a:ext cx="577402" cy="276999"/>
          </a:xfrm>
          <a:prstGeom prst="rect">
            <a:avLst/>
          </a:prstGeom>
        </p:spPr>
        <p:txBody>
          <a:bodyPr wrap="none">
            <a:spAutoFit/>
          </a:bodyPr>
          <a:lstStyle/>
          <a:p>
            <a:r>
              <a:rPr lang="en-US" sz="1200" dirty="0" err="1"/>
              <a:t>NaOCl</a:t>
            </a:r>
            <a:endParaRPr lang="en-US" sz="1200" dirty="0"/>
          </a:p>
        </p:txBody>
      </p:sp>
      <p:sp>
        <p:nvSpPr>
          <p:cNvPr id="10" name="Rectangle 9">
            <a:extLst>
              <a:ext uri="{FF2B5EF4-FFF2-40B4-BE49-F238E27FC236}">
                <a16:creationId xmlns:a16="http://schemas.microsoft.com/office/drawing/2014/main" id="{FA747CD1-F771-424C-B09C-E061DC804A5D}"/>
              </a:ext>
            </a:extLst>
          </p:cNvPr>
          <p:cNvSpPr/>
          <p:nvPr/>
        </p:nvSpPr>
        <p:spPr>
          <a:xfrm>
            <a:off x="5696068" y="4378133"/>
            <a:ext cx="577402" cy="276999"/>
          </a:xfrm>
          <a:prstGeom prst="rect">
            <a:avLst/>
          </a:prstGeom>
        </p:spPr>
        <p:txBody>
          <a:bodyPr wrap="none">
            <a:spAutoFit/>
          </a:bodyPr>
          <a:lstStyle/>
          <a:p>
            <a:r>
              <a:rPr lang="en-US" sz="1200" dirty="0" err="1"/>
              <a:t>NaOCl</a:t>
            </a:r>
            <a:endParaRPr lang="en-US" sz="1200" dirty="0"/>
          </a:p>
        </p:txBody>
      </p:sp>
    </p:spTree>
    <p:extLst>
      <p:ext uri="{BB962C8B-B14F-4D97-AF65-F5344CB8AC3E}">
        <p14:creationId xmlns:p14="http://schemas.microsoft.com/office/powerpoint/2010/main" val="3922333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E8277-C3A1-4A7F-B072-B2A4F84C88AE}"/>
              </a:ext>
            </a:extLst>
          </p:cNvPr>
          <p:cNvSpPr>
            <a:spLocks noGrp="1"/>
          </p:cNvSpPr>
          <p:nvPr>
            <p:ph type="title"/>
          </p:nvPr>
        </p:nvSpPr>
        <p:spPr/>
        <p:txBody>
          <a:bodyPr>
            <a:normAutofit/>
          </a:bodyPr>
          <a:lstStyle/>
          <a:p>
            <a:r>
              <a:rPr lang="en-US" sz="2400" dirty="0"/>
              <a:t>Mechanism: TEMPO as the catalyst</a:t>
            </a:r>
          </a:p>
        </p:txBody>
      </p:sp>
      <p:sp>
        <p:nvSpPr>
          <p:cNvPr id="4" name="Slide Number Placeholder 3">
            <a:extLst>
              <a:ext uri="{FF2B5EF4-FFF2-40B4-BE49-F238E27FC236}">
                <a16:creationId xmlns:a16="http://schemas.microsoft.com/office/drawing/2014/main" id="{B7C5354E-9F1A-4C8A-8470-AEF1527D2B10}"/>
              </a:ext>
            </a:extLst>
          </p:cNvPr>
          <p:cNvSpPr>
            <a:spLocks noGrp="1"/>
          </p:cNvSpPr>
          <p:nvPr>
            <p:ph type="sldNum" sz="quarter" idx="12"/>
          </p:nvPr>
        </p:nvSpPr>
        <p:spPr/>
        <p:txBody>
          <a:bodyPr/>
          <a:lstStyle/>
          <a:p>
            <a:fld id="{DC92BDBB-398E-48A7-A195-B9C0665C5B2E}" type="slidenum">
              <a:rPr lang="en-US" smtClean="0"/>
              <a:pPr/>
              <a:t>12</a:t>
            </a:fld>
            <a:endParaRPr lang="en-US"/>
          </a:p>
        </p:txBody>
      </p:sp>
      <p:pic>
        <p:nvPicPr>
          <p:cNvPr id="5" name="Picture 4">
            <a:extLst>
              <a:ext uri="{FF2B5EF4-FFF2-40B4-BE49-F238E27FC236}">
                <a16:creationId xmlns:a16="http://schemas.microsoft.com/office/drawing/2014/main" id="{F7F3D5E0-25EB-45B9-9E26-7A1C6D58912C}"/>
              </a:ext>
            </a:extLst>
          </p:cNvPr>
          <p:cNvPicPr>
            <a:picLocks noChangeAspect="1"/>
          </p:cNvPicPr>
          <p:nvPr/>
        </p:nvPicPr>
        <p:blipFill>
          <a:blip r:embed="rId2"/>
          <a:stretch>
            <a:fillRect/>
          </a:stretch>
        </p:blipFill>
        <p:spPr>
          <a:xfrm>
            <a:off x="836493" y="1905000"/>
            <a:ext cx="7697907" cy="3352800"/>
          </a:xfrm>
          <a:prstGeom prst="rect">
            <a:avLst/>
          </a:prstGeom>
        </p:spPr>
      </p:pic>
      <p:sp>
        <p:nvSpPr>
          <p:cNvPr id="6" name="Rectangle 5">
            <a:extLst>
              <a:ext uri="{FF2B5EF4-FFF2-40B4-BE49-F238E27FC236}">
                <a16:creationId xmlns:a16="http://schemas.microsoft.com/office/drawing/2014/main" id="{F0FF2702-187B-4088-8E4E-C9495FC89C5A}"/>
              </a:ext>
            </a:extLst>
          </p:cNvPr>
          <p:cNvSpPr/>
          <p:nvPr/>
        </p:nvSpPr>
        <p:spPr>
          <a:xfrm>
            <a:off x="609600" y="2057400"/>
            <a:ext cx="805029" cy="369332"/>
          </a:xfrm>
          <a:prstGeom prst="rect">
            <a:avLst/>
          </a:prstGeom>
        </p:spPr>
        <p:txBody>
          <a:bodyPr wrap="none">
            <a:spAutoFit/>
          </a:bodyPr>
          <a:lstStyle/>
          <a:p>
            <a:r>
              <a:rPr lang="en-US" dirty="0"/>
              <a:t>bleach</a:t>
            </a:r>
          </a:p>
        </p:txBody>
      </p:sp>
    </p:spTree>
    <p:extLst>
      <p:ext uri="{BB962C8B-B14F-4D97-AF65-F5344CB8AC3E}">
        <p14:creationId xmlns:p14="http://schemas.microsoft.com/office/powerpoint/2010/main" val="9394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1605816563"/>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Mild oxidizing agents </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iv. Copper(I)/TEMPO-Catalyzed Aerobic Alcohol Oxidation (Stahl oxidation)</a:t>
                      </a:r>
                    </a:p>
                    <a:p>
                      <a:pPr marL="0" indent="0">
                        <a:buNone/>
                      </a:pPr>
                      <a:endParaRPr 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B050"/>
                          </a:solidFill>
                        </a:rPr>
                        <a:t>Oxygen or air </a:t>
                      </a:r>
                      <a:r>
                        <a:rPr lang="en-US" sz="1600" dirty="0">
                          <a:solidFill>
                            <a:schemeClr val="tx1"/>
                          </a:solidFill>
                        </a:rPr>
                        <a:t>is used as the terminal oxidant</a:t>
                      </a:r>
                      <a:r>
                        <a:rPr lang="en-US" sz="1600" dirty="0"/>
                        <a:t>, TEMPO and Cu as the catalyst</a:t>
                      </a:r>
                    </a:p>
                    <a:p>
                      <a:pPr marL="0" indent="0">
                        <a:buNone/>
                      </a:pPr>
                      <a:endParaRPr lang="en-US" sz="1500" dirty="0"/>
                    </a:p>
                    <a:p>
                      <a:pPr marL="0" indent="0">
                        <a:buNone/>
                      </a:pPr>
                      <a:r>
                        <a:rPr lang="en-US" sz="1500" dirty="0"/>
                        <a:t>Generic scheme:</a:t>
                      </a:r>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p>
                      <a:pPr marL="0" indent="0">
                        <a:buNone/>
                      </a:pPr>
                      <a:r>
                        <a:rPr lang="en-US" sz="1500" dirty="0"/>
                        <a:t>Example (</a:t>
                      </a:r>
                      <a:r>
                        <a:rPr lang="en-US" sz="1500" dirty="0" err="1"/>
                        <a:t>chemoselective</a:t>
                      </a:r>
                      <a:r>
                        <a:rPr lang="en-US" sz="1500" dirty="0"/>
                        <a:t>): </a:t>
                      </a:r>
                    </a:p>
                    <a:p>
                      <a:pPr marL="0" indent="0">
                        <a:buNone/>
                      </a:pPr>
                      <a:endParaRPr lang="en-US" sz="1500" dirty="0"/>
                    </a:p>
                    <a:p>
                      <a:pPr marL="0" indent="0">
                        <a:buNone/>
                      </a:pPr>
                      <a:endParaRPr lang="en-US" sz="1500" dirty="0"/>
                    </a:p>
                    <a:p>
                      <a:pPr marL="0" indent="0">
                        <a:buNone/>
                      </a:pPr>
                      <a:endParaRPr lang="en-US" sz="1500" dirty="0"/>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13</a:t>
            </a:fld>
            <a:endParaRPr lang="en-US"/>
          </a:p>
        </p:txBody>
      </p:sp>
      <p:pic>
        <p:nvPicPr>
          <p:cNvPr id="11" name="Picture 2" descr="https://upload.wikimedia.org/wikipedia/commons/b/b9/StahlOxidationScheme.jpg">
            <a:extLst>
              <a:ext uri="{FF2B5EF4-FFF2-40B4-BE49-F238E27FC236}">
                <a16:creationId xmlns:a16="http://schemas.microsoft.com/office/drawing/2014/main" id="{8E354C68-145B-4286-96F9-A4E38180A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476" y="4724400"/>
            <a:ext cx="4992463" cy="145960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BBA7A1D0-541C-4268-809A-6302535B4970}"/>
              </a:ext>
            </a:extLst>
          </p:cNvPr>
          <p:cNvPicPr>
            <a:picLocks noChangeAspect="1"/>
          </p:cNvPicPr>
          <p:nvPr/>
        </p:nvPicPr>
        <p:blipFill rotWithShape="1">
          <a:blip r:embed="rId4"/>
          <a:srcRect t="642" b="71433"/>
          <a:stretch/>
        </p:blipFill>
        <p:spPr>
          <a:xfrm>
            <a:off x="580768" y="2754595"/>
            <a:ext cx="4724400" cy="1093791"/>
          </a:xfrm>
          <a:prstGeom prst="rect">
            <a:avLst/>
          </a:prstGeom>
        </p:spPr>
      </p:pic>
      <p:pic>
        <p:nvPicPr>
          <p:cNvPr id="13" name="Picture 12">
            <a:extLst>
              <a:ext uri="{FF2B5EF4-FFF2-40B4-BE49-F238E27FC236}">
                <a16:creationId xmlns:a16="http://schemas.microsoft.com/office/drawing/2014/main" id="{F8F39DD6-C52F-4FC4-BCE9-F1114C92D583}"/>
              </a:ext>
            </a:extLst>
          </p:cNvPr>
          <p:cNvPicPr>
            <a:picLocks noChangeAspect="1"/>
          </p:cNvPicPr>
          <p:nvPr/>
        </p:nvPicPr>
        <p:blipFill rotWithShape="1">
          <a:blip r:embed="rId5"/>
          <a:srcRect l="8333" t="14331" r="55834" b="15605"/>
          <a:stretch/>
        </p:blipFill>
        <p:spPr>
          <a:xfrm>
            <a:off x="6099120" y="2097454"/>
            <a:ext cx="2819400" cy="2884967"/>
          </a:xfrm>
          <a:prstGeom prst="rect">
            <a:avLst/>
          </a:prstGeom>
        </p:spPr>
      </p:pic>
      <p:pic>
        <p:nvPicPr>
          <p:cNvPr id="77826" name="Picture 2" descr="https://upload.wikimedia.org/wikipedia/commons/9/92/StahlOxidation.jpg">
            <a:extLst>
              <a:ext uri="{FF2B5EF4-FFF2-40B4-BE49-F238E27FC236}">
                <a16:creationId xmlns:a16="http://schemas.microsoft.com/office/drawing/2014/main" id="{E18D57B3-D101-4A9E-B1C2-00A191ECFD2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67" t="7856" r="10833" b="34801"/>
          <a:stretch/>
        </p:blipFill>
        <p:spPr bwMode="auto">
          <a:xfrm>
            <a:off x="6470102" y="5146388"/>
            <a:ext cx="2299796" cy="112053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667CC4F-E24D-4297-8E80-94AACB05CFB4}"/>
              </a:ext>
            </a:extLst>
          </p:cNvPr>
          <p:cNvSpPr/>
          <p:nvPr/>
        </p:nvSpPr>
        <p:spPr>
          <a:xfrm>
            <a:off x="6184284" y="4892472"/>
            <a:ext cx="3137253" cy="253916"/>
          </a:xfrm>
          <a:prstGeom prst="rect">
            <a:avLst/>
          </a:prstGeom>
        </p:spPr>
        <p:txBody>
          <a:bodyPr wrap="square">
            <a:spAutoFit/>
          </a:bodyPr>
          <a:lstStyle/>
          <a:p>
            <a:r>
              <a:rPr lang="en-US" sz="1050" dirty="0"/>
              <a:t>https://pubs.acs.org/doi/abs/10.1021/ja3117203</a:t>
            </a:r>
          </a:p>
        </p:txBody>
      </p:sp>
    </p:spTree>
    <p:extLst>
      <p:ext uri="{BB962C8B-B14F-4D97-AF65-F5344CB8AC3E}">
        <p14:creationId xmlns:p14="http://schemas.microsoft.com/office/powerpoint/2010/main" val="1239092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E5D58-353E-4D41-AE7C-F2F17A7D06B5}"/>
              </a:ext>
            </a:extLst>
          </p:cNvPr>
          <p:cNvSpPr>
            <a:spLocks noGrp="1"/>
          </p:cNvSpPr>
          <p:nvPr>
            <p:ph idx="1"/>
          </p:nvPr>
        </p:nvSpPr>
        <p:spPr>
          <a:xfrm>
            <a:off x="608236" y="457200"/>
            <a:ext cx="4037582" cy="463071"/>
          </a:xfrm>
        </p:spPr>
        <p:txBody>
          <a:bodyPr>
            <a:normAutofit fontScale="70000" lnSpcReduction="20000"/>
          </a:bodyPr>
          <a:lstStyle/>
          <a:p>
            <a:pPr marL="0" indent="0">
              <a:buNone/>
            </a:pPr>
            <a:r>
              <a:rPr lang="en-US" dirty="0"/>
              <a:t>What is “Asian flush” and why? </a:t>
            </a:r>
            <a:endParaRPr lang="en-SG" dirty="0"/>
          </a:p>
        </p:txBody>
      </p:sp>
      <p:sp>
        <p:nvSpPr>
          <p:cNvPr id="5" name="Rectangle 4">
            <a:extLst>
              <a:ext uri="{FF2B5EF4-FFF2-40B4-BE49-F238E27FC236}">
                <a16:creationId xmlns:a16="http://schemas.microsoft.com/office/drawing/2014/main" id="{8A075BA4-D90D-454C-ABC5-E0B7AEA7A512}"/>
              </a:ext>
            </a:extLst>
          </p:cNvPr>
          <p:cNvSpPr/>
          <p:nvPr/>
        </p:nvSpPr>
        <p:spPr>
          <a:xfrm>
            <a:off x="534418" y="945325"/>
            <a:ext cx="7542782" cy="300082"/>
          </a:xfrm>
          <a:prstGeom prst="rect">
            <a:avLst/>
          </a:prstGeom>
        </p:spPr>
        <p:txBody>
          <a:bodyPr wrap="square">
            <a:spAutoFit/>
          </a:bodyPr>
          <a:lstStyle/>
          <a:p>
            <a:r>
              <a:rPr lang="en-US" sz="1350" i="1" dirty="0"/>
              <a:t>common in East Asians, with approximately 30 to 50% of Chinese, Japanese, and Koreans </a:t>
            </a:r>
            <a:endParaRPr lang="en-SG" sz="1350" i="1" dirty="0"/>
          </a:p>
        </p:txBody>
      </p:sp>
      <p:sp>
        <p:nvSpPr>
          <p:cNvPr id="6" name="Rectangle 5">
            <a:extLst>
              <a:ext uri="{FF2B5EF4-FFF2-40B4-BE49-F238E27FC236}">
                <a16:creationId xmlns:a16="http://schemas.microsoft.com/office/drawing/2014/main" id="{DCD3432B-0C40-4821-80BA-AEA3CD808414}"/>
              </a:ext>
            </a:extLst>
          </p:cNvPr>
          <p:cNvSpPr/>
          <p:nvPr/>
        </p:nvSpPr>
        <p:spPr>
          <a:xfrm>
            <a:off x="762000" y="5334058"/>
            <a:ext cx="7767637" cy="507831"/>
          </a:xfrm>
          <a:prstGeom prst="rect">
            <a:avLst/>
          </a:prstGeom>
        </p:spPr>
        <p:txBody>
          <a:bodyPr wrap="square">
            <a:spAutoFit/>
          </a:bodyPr>
          <a:lstStyle/>
          <a:p>
            <a:r>
              <a:rPr lang="en-SG" sz="1350" dirty="0">
                <a:hlinkClick r:id="rId2"/>
              </a:rPr>
              <a:t>https://news.usc.edu/112489/antihistamines-prevent-asian-flush-the-red-face-some-people-get-from-alcohol-but-with-huge-risks/</a:t>
            </a:r>
            <a:r>
              <a:rPr lang="en-SG" sz="1350" dirty="0"/>
              <a:t> </a:t>
            </a:r>
          </a:p>
        </p:txBody>
      </p:sp>
      <p:sp>
        <p:nvSpPr>
          <p:cNvPr id="2" name="Rectangle 1">
            <a:extLst>
              <a:ext uri="{FF2B5EF4-FFF2-40B4-BE49-F238E27FC236}">
                <a16:creationId xmlns:a16="http://schemas.microsoft.com/office/drawing/2014/main" id="{089845BC-402A-48B0-949C-B44B8EB93E2C}"/>
              </a:ext>
            </a:extLst>
          </p:cNvPr>
          <p:cNvSpPr/>
          <p:nvPr/>
        </p:nvSpPr>
        <p:spPr>
          <a:xfrm>
            <a:off x="4332703" y="2567746"/>
            <a:ext cx="4572000" cy="2377574"/>
          </a:xfrm>
          <a:prstGeom prst="rect">
            <a:avLst/>
          </a:prstGeom>
        </p:spPr>
        <p:txBody>
          <a:bodyPr>
            <a:spAutoFit/>
          </a:bodyPr>
          <a:lstStyle/>
          <a:p>
            <a:pPr marL="214313" indent="-214313">
              <a:buFont typeface="Arial" panose="020B0604020202020204" pitchFamily="34" charset="0"/>
              <a:buChar char="•"/>
            </a:pPr>
            <a:r>
              <a:rPr lang="en-US" sz="1350" i="1" dirty="0">
                <a:solidFill>
                  <a:srgbClr val="000000"/>
                </a:solidFill>
              </a:rPr>
              <a:t>Alcohol or ethanol is broken down or converted in the liver to acetaldehyde, a highly toxic compound that contributes to the hungover feeling. In most people, acetaldehyde is rapidly transformed to harmless acetate and water.</a:t>
            </a:r>
          </a:p>
          <a:p>
            <a:pPr marL="214313" indent="-214313">
              <a:buFont typeface="Arial" panose="020B0604020202020204" pitchFamily="34" charset="0"/>
              <a:buChar char="•"/>
            </a:pPr>
            <a:endParaRPr lang="en-US" sz="1350" i="1" dirty="0">
              <a:solidFill>
                <a:srgbClr val="000000"/>
              </a:solidFill>
            </a:endParaRPr>
          </a:p>
          <a:p>
            <a:pPr marL="214313" indent="-214313">
              <a:buFont typeface="Arial" panose="020B0604020202020204" pitchFamily="34" charset="0"/>
              <a:buChar char="•"/>
            </a:pPr>
            <a:r>
              <a:rPr lang="en-US" sz="1350" i="1" dirty="0">
                <a:solidFill>
                  <a:srgbClr val="000000"/>
                </a:solidFill>
              </a:rPr>
              <a:t>However, for some Asians, Ashkenazi Jews and others whose gene pool contains a mutant or altered form of the ALDH2 gene, the toxic </a:t>
            </a:r>
            <a:r>
              <a:rPr lang="en-US" sz="1350" b="1" i="1" dirty="0">
                <a:solidFill>
                  <a:srgbClr val="000000"/>
                </a:solidFill>
              </a:rPr>
              <a:t>acetaldehyde</a:t>
            </a:r>
            <a:r>
              <a:rPr lang="en-US" sz="1350" i="1" dirty="0">
                <a:solidFill>
                  <a:srgbClr val="000000"/>
                </a:solidFill>
              </a:rPr>
              <a:t> isn’t broken down as quickly, so it hangs around and accumulates in the liver and body — resulting in what is known as the Asian glow.</a:t>
            </a:r>
            <a:endParaRPr lang="en-SG" sz="1350" i="1" dirty="0"/>
          </a:p>
          <a:p>
            <a:endParaRPr lang="en-SG" sz="1350" dirty="0"/>
          </a:p>
        </p:txBody>
      </p:sp>
      <p:pic>
        <p:nvPicPr>
          <p:cNvPr id="76802" name="Picture 2" descr="How Long Does Asian Flush Last?: What You Need To Know – iBlush">
            <a:extLst>
              <a:ext uri="{FF2B5EF4-FFF2-40B4-BE49-F238E27FC236}">
                <a16:creationId xmlns:a16="http://schemas.microsoft.com/office/drawing/2014/main" id="{37D73D3C-EF84-489E-85AA-A4339CBC8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965" y="2567746"/>
            <a:ext cx="3925468" cy="21835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9676520-BD0B-4E6D-B64B-159AC03720AD}"/>
              </a:ext>
            </a:extLst>
          </p:cNvPr>
          <p:cNvPicPr>
            <a:picLocks noChangeAspect="1"/>
          </p:cNvPicPr>
          <p:nvPr/>
        </p:nvPicPr>
        <p:blipFill rotWithShape="1">
          <a:blip r:embed="rId4"/>
          <a:srcRect b="20651"/>
          <a:stretch/>
        </p:blipFill>
        <p:spPr>
          <a:xfrm>
            <a:off x="416201" y="1446346"/>
            <a:ext cx="3925467" cy="1019889"/>
          </a:xfrm>
          <a:prstGeom prst="rect">
            <a:avLst/>
          </a:prstGeom>
        </p:spPr>
      </p:pic>
    </p:spTree>
    <p:extLst>
      <p:ext uri="{BB962C8B-B14F-4D97-AF65-F5344CB8AC3E}">
        <p14:creationId xmlns:p14="http://schemas.microsoft.com/office/powerpoint/2010/main" val="2688084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3280303859"/>
              </p:ext>
            </p:extLst>
          </p:nvPr>
        </p:nvGraphicFramePr>
        <p:xfrm>
          <a:off x="533400" y="890588"/>
          <a:ext cx="8218788" cy="6446520"/>
        </p:xfrm>
        <a:graphic>
          <a:graphicData uri="http://schemas.openxmlformats.org/drawingml/2006/table">
            <a:tbl>
              <a:tblPr firstRow="1" bandRow="1">
                <a:tableStyleId>{2D5ABB26-0587-4C30-8999-92F81FD0307C}</a:tableStyleId>
              </a:tblPr>
              <a:tblGrid>
                <a:gridCol w="8218788">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1.2 Aldehydes to carboxylic acids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6012180">
                <a:tc>
                  <a:txBody>
                    <a:bodyPr/>
                    <a:lstStyle/>
                    <a:p>
                      <a:pPr lvl="0"/>
                      <a:r>
                        <a:rPr lang="en-US" sz="1500" b="1" dirty="0" err="1"/>
                        <a:t>Pinnick</a:t>
                      </a:r>
                      <a:r>
                        <a:rPr lang="en-US" sz="1500" b="1" dirty="0"/>
                        <a:t> oxidation: (1981)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baseline="0" dirty="0"/>
                    </a:p>
                    <a:p>
                      <a:pPr lvl="0"/>
                      <a:r>
                        <a:rPr lang="en-US" sz="1500" b="0" baseline="0" dirty="0"/>
                        <a:t>M</a:t>
                      </a:r>
                      <a:r>
                        <a:rPr lang="en-US" sz="1500" dirty="0"/>
                        <a:t>ild, inexpensive and selective reagent for the oxidation of aldehydes to the corresponding carboxylic acids</a:t>
                      </a:r>
                    </a:p>
                    <a:p>
                      <a:pPr lvl="0"/>
                      <a:endParaRPr lang="en-US" sz="1500" b="0" dirty="0"/>
                    </a:p>
                    <a:p>
                      <a:pPr lvl="0"/>
                      <a:endParaRPr lang="en-US" sz="1500" b="0" dirty="0"/>
                    </a:p>
                    <a:p>
                      <a:pPr lvl="0"/>
                      <a:endParaRPr lang="en-US" sz="1500" b="0" dirty="0"/>
                    </a:p>
                    <a:p>
                      <a:pPr lvl="0"/>
                      <a:endParaRPr lang="en-US" sz="1500" b="0" dirty="0"/>
                    </a:p>
                    <a:p>
                      <a:pPr lvl="0"/>
                      <a:endParaRPr lang="en-US" sz="1500" b="0" dirty="0"/>
                    </a:p>
                    <a:p>
                      <a:pPr lvl="0"/>
                      <a:endParaRPr lang="en-US" sz="1500" b="0" dirty="0"/>
                    </a:p>
                    <a:p>
                      <a:pPr lvl="0"/>
                      <a:endParaRPr lang="en-US" sz="1500" b="0" dirty="0"/>
                    </a:p>
                    <a:p>
                      <a:pPr lvl="0"/>
                      <a:r>
                        <a:rPr lang="en-US" sz="1500" b="0" dirty="0"/>
                        <a:t>Reagents: sodium chlorite: NaClO</a:t>
                      </a:r>
                      <a:r>
                        <a:rPr lang="en-US" sz="1500" b="0" baseline="-25000" dirty="0"/>
                        <a:t>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baseline="0" dirty="0"/>
                        <a:t>hypochlorous acid (</a:t>
                      </a:r>
                      <a:r>
                        <a:rPr lang="en-US" sz="1500" b="0" baseline="0" dirty="0" err="1"/>
                        <a:t>HOCl</a:t>
                      </a:r>
                      <a:r>
                        <a:rPr lang="en-US" sz="1500" b="0" baseline="0" dirty="0"/>
                        <a:t>) is the by-product, and 2-methyl-2butene (or DMSO) is added as the scavenger to prevent side reactions caused by </a:t>
                      </a:r>
                      <a:r>
                        <a:rPr lang="en-US" sz="1500" b="0" baseline="0" dirty="0" err="1"/>
                        <a:t>HOCl</a:t>
                      </a:r>
                      <a:r>
                        <a:rPr lang="en-US" sz="1500" b="0"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baseline="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p>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15</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8" name="Main graphic">
            <a:extLst>
              <a:ext uri="{FF2B5EF4-FFF2-40B4-BE49-F238E27FC236}">
                <a16:creationId xmlns:a16="http://schemas.microsoft.com/office/drawing/2014/main" id="{6B8A6178-ABCB-4DE1-A657-C855F25EACBC}"/>
              </a:ext>
            </a:extLst>
          </p:cNvPr>
          <p:cNvPicPr/>
          <p:nvPr/>
        </p:nvPicPr>
        <p:blipFill>
          <a:blip r:embed="rId3"/>
          <a:stretch/>
        </p:blipFill>
        <p:spPr>
          <a:xfrm>
            <a:off x="1446618" y="2514600"/>
            <a:ext cx="6097182" cy="1030521"/>
          </a:xfrm>
          <a:prstGeom prst="rect">
            <a:avLst/>
          </a:prstGeom>
          <a:ln>
            <a:noFill/>
          </a:ln>
        </p:spPr>
      </p:pic>
      <p:pic>
        <p:nvPicPr>
          <p:cNvPr id="4098" name="Picture 2" descr="Starting materials depicted are 2-methylbut-2-ene and hypochlorous acid. Product depicted after reaction arrow is 3-chloro-2-methylbutan-2-ol">
            <a:extLst>
              <a:ext uri="{FF2B5EF4-FFF2-40B4-BE49-F238E27FC236}">
                <a16:creationId xmlns:a16="http://schemas.microsoft.com/office/drawing/2014/main" id="{E585894B-D636-4088-8BA5-C63F20B846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4953000"/>
            <a:ext cx="3027100" cy="6237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2DDF845-289D-4CA7-BB53-A0A2D8846274}"/>
              </a:ext>
            </a:extLst>
          </p:cNvPr>
          <p:cNvSpPr txBox="1"/>
          <p:nvPr/>
        </p:nvSpPr>
        <p:spPr>
          <a:xfrm>
            <a:off x="4724400" y="5630857"/>
            <a:ext cx="1811906" cy="369332"/>
          </a:xfrm>
          <a:prstGeom prst="rect">
            <a:avLst/>
          </a:prstGeom>
          <a:noFill/>
        </p:spPr>
        <p:txBody>
          <a:bodyPr wrap="none" rtlCol="0">
            <a:spAutoFit/>
          </a:bodyPr>
          <a:lstStyle/>
          <a:p>
            <a:r>
              <a:rPr lang="en-US" dirty="0"/>
              <a:t>(</a:t>
            </a:r>
            <a:r>
              <a:rPr lang="en-US" i="1" dirty="0"/>
              <a:t>regio-selectivity</a:t>
            </a:r>
            <a:r>
              <a:rPr lang="en-US" dirty="0"/>
              <a:t>)</a:t>
            </a:r>
          </a:p>
        </p:txBody>
      </p:sp>
    </p:spTree>
    <p:extLst>
      <p:ext uri="{BB962C8B-B14F-4D97-AF65-F5344CB8AC3E}">
        <p14:creationId xmlns:p14="http://schemas.microsoft.com/office/powerpoint/2010/main" val="2981765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1.3 Primary alcohols to carboxylic acid (strong oxidizing agent)</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16</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8" name="Picture 7">
            <a:extLst>
              <a:ext uri="{FF2B5EF4-FFF2-40B4-BE49-F238E27FC236}">
                <a16:creationId xmlns:a16="http://schemas.microsoft.com/office/drawing/2014/main" id="{F6C159EE-A695-48F4-B624-474C537F6914}"/>
              </a:ext>
            </a:extLst>
          </p:cNvPr>
          <p:cNvPicPr>
            <a:picLocks noChangeAspect="1" noChangeArrowheads="1"/>
          </p:cNvPicPr>
          <p:nvPr/>
        </p:nvPicPr>
        <p:blipFill>
          <a:blip r:embed="rId3" cstate="print"/>
          <a:srcRect/>
          <a:stretch>
            <a:fillRect/>
          </a:stretch>
        </p:blipFill>
        <p:spPr bwMode="auto">
          <a:xfrm>
            <a:off x="1652191" y="3717621"/>
            <a:ext cx="5728574" cy="1720930"/>
          </a:xfrm>
          <a:prstGeom prst="rect">
            <a:avLst/>
          </a:prstGeom>
          <a:noFill/>
          <a:ln w="9525">
            <a:noFill/>
            <a:miter lim="800000"/>
            <a:headEnd/>
            <a:tailEnd/>
          </a:ln>
        </p:spPr>
      </p:pic>
      <p:sp>
        <p:nvSpPr>
          <p:cNvPr id="9" name="Right Arrow 11">
            <a:extLst>
              <a:ext uri="{FF2B5EF4-FFF2-40B4-BE49-F238E27FC236}">
                <a16:creationId xmlns:a16="http://schemas.microsoft.com/office/drawing/2014/main" id="{4B327A8B-4354-47F3-A3CA-9D12699D400F}"/>
              </a:ext>
            </a:extLst>
          </p:cNvPr>
          <p:cNvSpPr/>
          <p:nvPr/>
        </p:nvSpPr>
        <p:spPr>
          <a:xfrm>
            <a:off x="1480741" y="5009412"/>
            <a:ext cx="342900" cy="1143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2">
            <a:extLst>
              <a:ext uri="{FF2B5EF4-FFF2-40B4-BE49-F238E27FC236}">
                <a16:creationId xmlns:a16="http://schemas.microsoft.com/office/drawing/2014/main" id="{E2C8D705-0BC4-4C88-920F-32C66E9D8304}"/>
              </a:ext>
            </a:extLst>
          </p:cNvPr>
          <p:cNvSpPr/>
          <p:nvPr/>
        </p:nvSpPr>
        <p:spPr>
          <a:xfrm>
            <a:off x="518020" y="3254659"/>
            <a:ext cx="7474034" cy="300082"/>
          </a:xfrm>
          <a:prstGeom prst="rect">
            <a:avLst/>
          </a:prstGeom>
        </p:spPr>
        <p:txBody>
          <a:bodyPr wrap="none">
            <a:spAutoFit/>
          </a:bodyPr>
          <a:lstStyle/>
          <a:p>
            <a:pPr lvl="0"/>
            <a:r>
              <a:rPr lang="en-US" sz="1350" dirty="0">
                <a:solidFill>
                  <a:srgbClr val="FF0000"/>
                </a:solidFill>
              </a:rPr>
              <a:t>A mild option </a:t>
            </a:r>
            <a:r>
              <a:rPr lang="en-US" sz="1350" dirty="0"/>
              <a:t>is to </a:t>
            </a:r>
            <a:r>
              <a:rPr lang="en-US" sz="1350" b="1" dirty="0"/>
              <a:t>oxidize the alcohol to the aldehyde first</a:t>
            </a:r>
            <a:r>
              <a:rPr lang="en-US" sz="1350" dirty="0"/>
              <a:t>, followed by oxidation to the carboxylic acid. </a:t>
            </a:r>
            <a:endParaRPr lang="en-US" sz="1350" baseline="-25000" dirty="0"/>
          </a:p>
        </p:txBody>
      </p:sp>
      <p:sp>
        <p:nvSpPr>
          <p:cNvPr id="5" name="Rectangle 4">
            <a:extLst>
              <a:ext uri="{FF2B5EF4-FFF2-40B4-BE49-F238E27FC236}">
                <a16:creationId xmlns:a16="http://schemas.microsoft.com/office/drawing/2014/main" id="{9D93B8D1-053F-4555-B306-04367C6DA751}"/>
              </a:ext>
            </a:extLst>
          </p:cNvPr>
          <p:cNvSpPr/>
          <p:nvPr/>
        </p:nvSpPr>
        <p:spPr>
          <a:xfrm>
            <a:off x="518020" y="1415712"/>
            <a:ext cx="4572000" cy="1546577"/>
          </a:xfrm>
          <a:prstGeom prst="rect">
            <a:avLst/>
          </a:prstGeom>
        </p:spPr>
        <p:txBody>
          <a:bodyPr>
            <a:spAutoFit/>
          </a:bodyPr>
          <a:lstStyle/>
          <a:p>
            <a:r>
              <a:rPr lang="en-US" sz="1350" dirty="0"/>
              <a:t>Jones oxidation (1946)</a:t>
            </a:r>
          </a:p>
          <a:p>
            <a:pPr marL="257175" indent="-257175">
              <a:buFont typeface="Arial" panose="020B0604020202020204" pitchFamily="34" charset="0"/>
              <a:buChar char="•"/>
            </a:pPr>
            <a:r>
              <a:rPr lang="en-US" sz="1350" dirty="0"/>
              <a:t>Reagents: chromic acid (H</a:t>
            </a:r>
            <a:r>
              <a:rPr lang="en-US" sz="1350" baseline="-25000" dirty="0"/>
              <a:t>2</a:t>
            </a:r>
            <a:r>
              <a:rPr lang="en-US" sz="1350" dirty="0"/>
              <a:t>CrO</a:t>
            </a:r>
            <a:r>
              <a:rPr lang="en-US" sz="1350" baseline="-25000" dirty="0"/>
              <a:t>4</a:t>
            </a:r>
            <a:r>
              <a:rPr lang="en-US" sz="1350" dirty="0"/>
              <a:t>), can be prepared by adding chromic trioxide </a:t>
            </a:r>
            <a:r>
              <a:rPr lang="en-US" sz="1350" b="1" dirty="0"/>
              <a:t>CrO</a:t>
            </a:r>
            <a:r>
              <a:rPr lang="en-US" sz="1350" b="1" baseline="-25000" dirty="0"/>
              <a:t>3</a:t>
            </a:r>
            <a:r>
              <a:rPr lang="en-US" sz="1350" dirty="0"/>
              <a:t> or dichromate salt (Cr</a:t>
            </a:r>
            <a:r>
              <a:rPr lang="en-US" sz="1350" baseline="-25000" dirty="0"/>
              <a:t>2</a:t>
            </a:r>
            <a:r>
              <a:rPr lang="en-US" sz="1350" dirty="0"/>
              <a:t>O</a:t>
            </a:r>
            <a:r>
              <a:rPr lang="en-US" sz="1350" baseline="-25000" dirty="0"/>
              <a:t>7</a:t>
            </a:r>
            <a:r>
              <a:rPr lang="en-US" sz="1350" baseline="30000" dirty="0"/>
              <a:t>2-</a:t>
            </a:r>
            <a:r>
              <a:rPr lang="en-US" sz="1350" dirty="0"/>
              <a:t>) in acetic acid or dilute sulfuric </a:t>
            </a:r>
            <a:r>
              <a:rPr lang="en-US" sz="1350" b="1" dirty="0"/>
              <a:t>acid</a:t>
            </a:r>
          </a:p>
          <a:p>
            <a:pPr marL="257175" indent="-257175">
              <a:buFont typeface="Arial" panose="020B0604020202020204" pitchFamily="34" charset="0"/>
              <a:buChar char="•"/>
            </a:pPr>
            <a:r>
              <a:rPr lang="en-US" sz="1350" dirty="0"/>
              <a:t>Many functional groups such as amines are often incompatible and need to be protected. For acid sensitive or delicate substrate, Jones reagent is NOT the best choice! </a:t>
            </a:r>
          </a:p>
        </p:txBody>
      </p:sp>
      <p:pic>
        <p:nvPicPr>
          <p:cNvPr id="12" name="Picture 11">
            <a:extLst>
              <a:ext uri="{FF2B5EF4-FFF2-40B4-BE49-F238E27FC236}">
                <a16:creationId xmlns:a16="http://schemas.microsoft.com/office/drawing/2014/main" id="{9EB5C03E-6C21-41C8-817F-4DF737523F0D}"/>
              </a:ext>
            </a:extLst>
          </p:cNvPr>
          <p:cNvPicPr>
            <a:picLocks noChangeAspect="1"/>
          </p:cNvPicPr>
          <p:nvPr/>
        </p:nvPicPr>
        <p:blipFill rotWithShape="1">
          <a:blip r:embed="rId4"/>
          <a:srcRect b="18220"/>
          <a:stretch/>
        </p:blipFill>
        <p:spPr>
          <a:xfrm>
            <a:off x="5285263" y="1858663"/>
            <a:ext cx="3502779" cy="876371"/>
          </a:xfrm>
          <a:prstGeom prst="rect">
            <a:avLst/>
          </a:prstGeom>
        </p:spPr>
      </p:pic>
    </p:spTree>
    <p:extLst>
      <p:ext uri="{BB962C8B-B14F-4D97-AF65-F5344CB8AC3E}">
        <p14:creationId xmlns:p14="http://schemas.microsoft.com/office/powerpoint/2010/main" val="69155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862234357"/>
              </p:ext>
            </p:extLst>
          </p:nvPr>
        </p:nvGraphicFramePr>
        <p:xfrm>
          <a:off x="580768" y="890588"/>
          <a:ext cx="8171420" cy="4846320"/>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Oxidation of alcohols or aldehydes</a:t>
                      </a:r>
                      <a:endParaRPr lang="en-SG" sz="2400" b="1" i="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None/>
                      </a:pPr>
                      <a:r>
                        <a:rPr lang="en-US" sz="1500" dirty="0"/>
                        <a:t>1. Mild oxidation: alcohols to aldehydes/ketones </a:t>
                      </a:r>
                    </a:p>
                    <a:p>
                      <a:pPr marL="0" indent="0">
                        <a:buNone/>
                      </a:pPr>
                      <a:endParaRPr lang="en-US" sz="1500" dirty="0"/>
                    </a:p>
                    <a:p>
                      <a:pPr marL="0" indent="0">
                        <a:buNone/>
                      </a:pPr>
                      <a:endParaRPr lang="en-US" sz="1500" dirty="0"/>
                    </a:p>
                    <a:p>
                      <a:pPr marL="0" indent="0">
                        <a:buNone/>
                      </a:pPr>
                      <a:endParaRPr lang="en-US" sz="1500" dirty="0"/>
                    </a:p>
                    <a:p>
                      <a:pPr marL="914400" lvl="1" indent="-457200">
                        <a:buFont typeface="+mj-lt"/>
                        <a:buAutoNum type="alphaLcPeriod"/>
                      </a:pPr>
                      <a:r>
                        <a:rPr lang="en-US" sz="1500" dirty="0">
                          <a:solidFill>
                            <a:schemeClr val="accent1"/>
                          </a:solidFill>
                        </a:rPr>
                        <a:t>Dess Martin Periodinane (DMP)</a:t>
                      </a:r>
                    </a:p>
                    <a:p>
                      <a:pPr marL="914400" lvl="1" indent="-457200">
                        <a:buFont typeface="+mj-lt"/>
                        <a:buAutoNum type="alphaLcPeriod"/>
                      </a:pPr>
                      <a:r>
                        <a:rPr lang="en-US" sz="1500" dirty="0" err="1"/>
                        <a:t>Swern</a:t>
                      </a:r>
                      <a:r>
                        <a:rPr lang="en-US" sz="1500" dirty="0"/>
                        <a:t> oxidation (large scale)</a:t>
                      </a:r>
                    </a:p>
                    <a:p>
                      <a:pPr marL="914400" lvl="1" indent="-457200">
                        <a:buFont typeface="+mj-lt"/>
                        <a:buAutoNum type="alphaLcPeriod"/>
                      </a:pPr>
                      <a:r>
                        <a:rPr lang="en-US" sz="1500" dirty="0"/>
                        <a:t>TPAP/NMO</a:t>
                      </a:r>
                    </a:p>
                    <a:p>
                      <a:pPr marL="914400" lvl="1" indent="-457200">
                        <a:buFont typeface="+mj-lt"/>
                        <a:buAutoNum type="alphaLcPeriod"/>
                      </a:pPr>
                      <a:r>
                        <a:rPr lang="en-US" sz="1500" dirty="0"/>
                        <a:t>MnO</a:t>
                      </a:r>
                      <a:r>
                        <a:rPr lang="en-US" sz="1500" baseline="-25000" dirty="0"/>
                        <a:t>2</a:t>
                      </a:r>
                      <a:r>
                        <a:rPr lang="en-US" sz="1500" dirty="0"/>
                        <a:t>: allylic/benzylic alcohols</a:t>
                      </a:r>
                    </a:p>
                    <a:p>
                      <a:pPr marL="914400" lvl="1" indent="-457200">
                        <a:buFont typeface="+mj-lt"/>
                        <a:buAutoNum type="alphaLcPeriod"/>
                      </a:pPr>
                      <a:r>
                        <a:rPr lang="en-US" sz="1500" dirty="0"/>
                        <a:t>TEMPO oxidation</a:t>
                      </a:r>
                    </a:p>
                    <a:p>
                      <a:pPr marL="914400" marR="0" lvl="1" indent="-457200" algn="l" defTabSz="914400" rtl="0" eaLnBrk="1" fontAlgn="auto" latinLnBrk="0" hangingPunct="1">
                        <a:lnSpc>
                          <a:spcPct val="100000"/>
                        </a:lnSpc>
                        <a:spcBef>
                          <a:spcPts val="0"/>
                        </a:spcBef>
                        <a:spcAft>
                          <a:spcPts val="0"/>
                        </a:spcAft>
                        <a:buClrTx/>
                        <a:buSzTx/>
                        <a:buFont typeface="+mj-lt"/>
                        <a:buAutoNum type="alphaLcPeriod"/>
                        <a:tabLst/>
                        <a:defRPr/>
                      </a:pPr>
                      <a:r>
                        <a:rPr lang="en-US" sz="1500" dirty="0">
                          <a:solidFill>
                            <a:schemeClr val="accent1"/>
                          </a:solidFill>
                        </a:rPr>
                        <a:t>Cu(I)-TEMPO aerobic oxidation</a:t>
                      </a:r>
                    </a:p>
                    <a:p>
                      <a:pPr marL="914400" lvl="1" indent="-457200">
                        <a:buFont typeface="+mj-lt"/>
                        <a:buAutoNum type="alphaLcPeriod"/>
                      </a:pPr>
                      <a:endParaRPr lang="en-US" sz="1500" dirty="0"/>
                    </a:p>
                    <a:p>
                      <a:pPr marL="914400" lvl="1" indent="-457200">
                        <a:buFont typeface="+mj-lt"/>
                        <a:buAutoNum type="alphaLcPeriod"/>
                      </a:pPr>
                      <a:endParaRPr 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2. Aldehydes to carboxylic acids </a:t>
                      </a:r>
                    </a:p>
                    <a:p>
                      <a:pPr marL="914400" marR="0" lvl="1" indent="-457200" algn="l" defTabSz="914400" rtl="0" eaLnBrk="1" fontAlgn="auto" latinLnBrk="0" hangingPunct="1">
                        <a:lnSpc>
                          <a:spcPct val="100000"/>
                        </a:lnSpc>
                        <a:spcBef>
                          <a:spcPts val="0"/>
                        </a:spcBef>
                        <a:spcAft>
                          <a:spcPts val="0"/>
                        </a:spcAft>
                        <a:buClrTx/>
                        <a:buSzTx/>
                        <a:buFont typeface="+mj-lt"/>
                        <a:buAutoNum type="alphaLcPeriod"/>
                        <a:tabLst/>
                        <a:defRPr/>
                      </a:pPr>
                      <a:r>
                        <a:rPr lang="en-US" sz="1500" dirty="0" err="1">
                          <a:solidFill>
                            <a:schemeClr val="accent1"/>
                          </a:solidFill>
                        </a:rPr>
                        <a:t>Pinnick</a:t>
                      </a:r>
                      <a:r>
                        <a:rPr lang="en-US" sz="1500" dirty="0">
                          <a:solidFill>
                            <a:schemeClr val="accent1"/>
                          </a:solidFill>
                        </a:rPr>
                        <a:t> oxidation (NaClO</a:t>
                      </a:r>
                      <a:r>
                        <a:rPr lang="en-US" sz="1500" baseline="-25000" dirty="0">
                          <a:solidFill>
                            <a:schemeClr val="accent1"/>
                          </a:solidFill>
                        </a:rPr>
                        <a:t>2</a:t>
                      </a:r>
                      <a:r>
                        <a:rPr lang="en-US" sz="1500" dirty="0">
                          <a:solidFill>
                            <a:schemeClr val="accent1"/>
                          </a:solidFill>
                        </a:rPr>
                        <a:t>) + </a:t>
                      </a:r>
                      <a:r>
                        <a:rPr lang="en-US" sz="1500" b="0" baseline="0" dirty="0">
                          <a:solidFill>
                            <a:schemeClr val="accent1"/>
                          </a:solidFill>
                        </a:rPr>
                        <a:t>2-methyl-2butene (or DMSO) </a:t>
                      </a:r>
                      <a:endParaRPr lang="en-US" sz="1500" dirty="0">
                        <a:solidFill>
                          <a:schemeClr val="accent1"/>
                        </a:solidFill>
                      </a:endParaRPr>
                    </a:p>
                    <a:p>
                      <a:pPr marL="0" indent="0">
                        <a:buNone/>
                      </a:pPr>
                      <a:endParaRPr lang="en-US" sz="1500" dirty="0"/>
                    </a:p>
                    <a:p>
                      <a:pPr marL="0" indent="0">
                        <a:buNone/>
                      </a:pPr>
                      <a:r>
                        <a:rPr lang="en-US" sz="1500" dirty="0"/>
                        <a:t>3. Primary alcohols to carboxylic acids</a:t>
                      </a:r>
                    </a:p>
                    <a:p>
                      <a:pPr marL="914400" lvl="1" indent="-457200">
                        <a:buFont typeface="+mj-lt"/>
                        <a:buAutoNum type="alphaLcPeriod"/>
                      </a:pPr>
                      <a:r>
                        <a:rPr lang="en-US" sz="1500" dirty="0">
                          <a:solidFill>
                            <a:schemeClr val="tx1"/>
                          </a:solidFill>
                        </a:rPr>
                        <a:t>Jones oxidation (CrO</a:t>
                      </a:r>
                      <a:r>
                        <a:rPr lang="en-US" sz="1500" baseline="-25000" dirty="0">
                          <a:solidFill>
                            <a:schemeClr val="tx1"/>
                          </a:solidFill>
                        </a:rPr>
                        <a:t>3</a:t>
                      </a:r>
                      <a:r>
                        <a:rPr lang="en-US" sz="1500" dirty="0">
                          <a:solidFill>
                            <a:schemeClr val="tx1"/>
                          </a:solidFill>
                        </a:rPr>
                        <a:t>/H</a:t>
                      </a:r>
                      <a:r>
                        <a:rPr lang="en-US" sz="1500" baseline="-25000" dirty="0">
                          <a:solidFill>
                            <a:schemeClr val="tx1"/>
                          </a:solidFill>
                        </a:rPr>
                        <a:t>3</a:t>
                      </a:r>
                      <a:r>
                        <a:rPr lang="en-US" sz="1500" dirty="0">
                          <a:solidFill>
                            <a:schemeClr val="tx1"/>
                          </a:solidFill>
                        </a:rPr>
                        <a:t>O</a:t>
                      </a:r>
                      <a:r>
                        <a:rPr lang="en-US" sz="1500" baseline="30000" dirty="0">
                          <a:solidFill>
                            <a:schemeClr val="tx1"/>
                          </a:solidFill>
                        </a:rPr>
                        <a:t>+</a:t>
                      </a:r>
                      <a:r>
                        <a:rPr lang="en-US" sz="1500" dirty="0">
                          <a:solidFill>
                            <a:schemeClr val="tx1"/>
                          </a:solidFill>
                        </a:rPr>
                        <a:t>)</a:t>
                      </a:r>
                    </a:p>
                    <a:p>
                      <a:pPr marL="914400" lvl="1" indent="-457200">
                        <a:buFont typeface="+mj-lt"/>
                        <a:buAutoNum type="alphaLcPeriod"/>
                      </a:pPr>
                      <a:r>
                        <a:rPr lang="en-US" sz="1500" dirty="0">
                          <a:solidFill>
                            <a:schemeClr val="accent1"/>
                          </a:solidFill>
                        </a:rPr>
                        <a:t>3 = 1 + 2</a:t>
                      </a:r>
                    </a:p>
                    <a:p>
                      <a:pPr marL="0" indent="0">
                        <a:buNone/>
                      </a:pPr>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17</a:t>
            </a:fld>
            <a:endParaRPr lang="en-US"/>
          </a:p>
        </p:txBody>
      </p:sp>
      <p:graphicFrame>
        <p:nvGraphicFramePr>
          <p:cNvPr id="18" name="Object 17">
            <a:extLst>
              <a:ext uri="{FF2B5EF4-FFF2-40B4-BE49-F238E27FC236}">
                <a16:creationId xmlns:a16="http://schemas.microsoft.com/office/drawing/2014/main" id="{EA2D0219-5B3D-453B-B6A1-F228381ABAC4}"/>
              </a:ext>
            </a:extLst>
          </p:cNvPr>
          <p:cNvGraphicFramePr>
            <a:graphicFrameLocks noChangeAspect="1"/>
          </p:cNvGraphicFramePr>
          <p:nvPr/>
        </p:nvGraphicFramePr>
        <p:xfrm>
          <a:off x="1042760" y="1816997"/>
          <a:ext cx="3081291" cy="310485"/>
        </p:xfrm>
        <a:graphic>
          <a:graphicData uri="http://schemas.openxmlformats.org/presentationml/2006/ole">
            <mc:AlternateContent xmlns:mc="http://schemas.openxmlformats.org/markup-compatibility/2006">
              <mc:Choice xmlns:v="urn:schemas-microsoft-com:vml" Requires="v">
                <p:oleObj name="CS ChemDraw Drawing" r:id="rId3" imgW="2054194" imgH="206990" progId="ChemDraw.Document.6.0">
                  <p:embed/>
                </p:oleObj>
              </mc:Choice>
              <mc:Fallback>
                <p:oleObj name="CS ChemDraw Drawing" r:id="rId3" imgW="2054194" imgH="206990" progId="ChemDraw.Document.6.0">
                  <p:embed/>
                  <p:pic>
                    <p:nvPicPr>
                      <p:cNvPr id="18" name="Object 17">
                        <a:extLst>
                          <a:ext uri="{FF2B5EF4-FFF2-40B4-BE49-F238E27FC236}">
                            <a16:creationId xmlns:a16="http://schemas.microsoft.com/office/drawing/2014/main" id="{EA2D0219-5B3D-453B-B6A1-F228381ABAC4}"/>
                          </a:ext>
                        </a:extLst>
                      </p:cNvPr>
                      <p:cNvPicPr/>
                      <p:nvPr/>
                    </p:nvPicPr>
                    <p:blipFill>
                      <a:blip r:embed="rId4"/>
                      <a:stretch>
                        <a:fillRect/>
                      </a:stretch>
                    </p:blipFill>
                    <p:spPr>
                      <a:xfrm>
                        <a:off x="1042760" y="1816997"/>
                        <a:ext cx="3081291" cy="310485"/>
                      </a:xfrm>
                      <a:prstGeom prst="rect">
                        <a:avLst/>
                      </a:prstGeom>
                    </p:spPr>
                  </p:pic>
                </p:oleObj>
              </mc:Fallback>
            </mc:AlternateContent>
          </a:graphicData>
        </a:graphic>
      </p:graphicFrame>
      <p:pic>
        <p:nvPicPr>
          <p:cNvPr id="64697" name="Picture 185" descr="The oxidation of alcohols can yield all of the following classes of organic  compounds, except: (a) amines (b) carboxylic acids (c) aldehydes (d)  ketones | Homework.Study.com">
            <a:extLst>
              <a:ext uri="{FF2B5EF4-FFF2-40B4-BE49-F238E27FC236}">
                <a16:creationId xmlns:a16="http://schemas.microsoft.com/office/drawing/2014/main" id="{0F436E8F-04DC-4C1D-BD26-B62190D67C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6641" y="1981200"/>
            <a:ext cx="3394179" cy="1713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89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3083631846"/>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1.4 oxidation of benzylic and allylic C-H bonds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endParaRPr lang="en-US" sz="15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18</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4">
            <a:extLst>
              <a:ext uri="{FF2B5EF4-FFF2-40B4-BE49-F238E27FC236}">
                <a16:creationId xmlns:a16="http://schemas.microsoft.com/office/drawing/2014/main" id="{9D93B8D1-053F-4555-B306-04367C6DA751}"/>
              </a:ext>
            </a:extLst>
          </p:cNvPr>
          <p:cNvSpPr/>
          <p:nvPr/>
        </p:nvSpPr>
        <p:spPr>
          <a:xfrm>
            <a:off x="419408" y="1383889"/>
            <a:ext cx="4130180" cy="1200329"/>
          </a:xfrm>
          <a:prstGeom prst="rect">
            <a:avLst/>
          </a:prstGeom>
        </p:spPr>
        <p:txBody>
          <a:bodyPr wrap="square">
            <a:spAutoFit/>
          </a:bodyPr>
          <a:lstStyle/>
          <a:p>
            <a:r>
              <a:rPr lang="en-US" dirty="0"/>
              <a:t>Potassium permanganate is a very powerful oxidant and oxidizes a </a:t>
            </a:r>
            <a:r>
              <a:rPr lang="en-US" b="1" dirty="0"/>
              <a:t>benzylic methyl group </a:t>
            </a:r>
            <a:r>
              <a:rPr lang="en-US" dirty="0"/>
              <a:t>(i.e. a toluene derivative) to a carboxylic acid.</a:t>
            </a:r>
            <a:endParaRPr lang="en-US" sz="1350" dirty="0"/>
          </a:p>
        </p:txBody>
      </p:sp>
      <p:pic>
        <p:nvPicPr>
          <p:cNvPr id="11" name="Picture 10">
            <a:extLst>
              <a:ext uri="{FF2B5EF4-FFF2-40B4-BE49-F238E27FC236}">
                <a16:creationId xmlns:a16="http://schemas.microsoft.com/office/drawing/2014/main" id="{BC1DE056-2B69-410A-9D82-9ECCFDF07D03}"/>
              </a:ext>
            </a:extLst>
          </p:cNvPr>
          <p:cNvPicPr>
            <a:picLocks noChangeAspect="1"/>
          </p:cNvPicPr>
          <p:nvPr/>
        </p:nvPicPr>
        <p:blipFill rotWithShape="1">
          <a:blip r:embed="rId3"/>
          <a:srcRect r="69479" b="39893"/>
          <a:stretch/>
        </p:blipFill>
        <p:spPr>
          <a:xfrm>
            <a:off x="369400" y="2799900"/>
            <a:ext cx="1828800" cy="990600"/>
          </a:xfrm>
          <a:prstGeom prst="rect">
            <a:avLst/>
          </a:prstGeom>
        </p:spPr>
      </p:pic>
      <p:pic>
        <p:nvPicPr>
          <p:cNvPr id="13" name="Picture 12">
            <a:extLst>
              <a:ext uri="{FF2B5EF4-FFF2-40B4-BE49-F238E27FC236}">
                <a16:creationId xmlns:a16="http://schemas.microsoft.com/office/drawing/2014/main" id="{8C6C388E-6E8B-4FD8-9F38-EBEEB4806A6A}"/>
              </a:ext>
            </a:extLst>
          </p:cNvPr>
          <p:cNvPicPr>
            <a:picLocks noChangeAspect="1"/>
          </p:cNvPicPr>
          <p:nvPr/>
        </p:nvPicPr>
        <p:blipFill>
          <a:blip r:embed="rId4"/>
          <a:stretch>
            <a:fillRect/>
          </a:stretch>
        </p:blipFill>
        <p:spPr>
          <a:xfrm>
            <a:off x="2263938" y="2648107"/>
            <a:ext cx="6716062" cy="1419423"/>
          </a:xfrm>
          <a:prstGeom prst="rect">
            <a:avLst/>
          </a:prstGeom>
        </p:spPr>
      </p:pic>
      <p:pic>
        <p:nvPicPr>
          <p:cNvPr id="14" name="Picture 13">
            <a:extLst>
              <a:ext uri="{FF2B5EF4-FFF2-40B4-BE49-F238E27FC236}">
                <a16:creationId xmlns:a16="http://schemas.microsoft.com/office/drawing/2014/main" id="{F6958772-36D6-4CA0-9134-2F892A6E7C2B}"/>
              </a:ext>
            </a:extLst>
          </p:cNvPr>
          <p:cNvPicPr>
            <a:picLocks noChangeAspect="1"/>
          </p:cNvPicPr>
          <p:nvPr/>
        </p:nvPicPr>
        <p:blipFill>
          <a:blip r:embed="rId5"/>
          <a:stretch>
            <a:fillRect/>
          </a:stretch>
        </p:blipFill>
        <p:spPr>
          <a:xfrm>
            <a:off x="4935720" y="1400158"/>
            <a:ext cx="1838582" cy="1247949"/>
          </a:xfrm>
          <a:prstGeom prst="rect">
            <a:avLst/>
          </a:prstGeom>
        </p:spPr>
      </p:pic>
      <p:pic>
        <p:nvPicPr>
          <p:cNvPr id="10" name="Picture 9">
            <a:extLst>
              <a:ext uri="{FF2B5EF4-FFF2-40B4-BE49-F238E27FC236}">
                <a16:creationId xmlns:a16="http://schemas.microsoft.com/office/drawing/2014/main" id="{4F304BEF-A080-4C6A-ACF9-260B34CE2441}"/>
              </a:ext>
            </a:extLst>
          </p:cNvPr>
          <p:cNvPicPr>
            <a:picLocks noChangeAspect="1"/>
          </p:cNvPicPr>
          <p:nvPr/>
        </p:nvPicPr>
        <p:blipFill>
          <a:blip r:embed="rId6"/>
          <a:stretch>
            <a:fillRect/>
          </a:stretch>
        </p:blipFill>
        <p:spPr>
          <a:xfrm>
            <a:off x="5818627" y="4067530"/>
            <a:ext cx="1971950" cy="933580"/>
          </a:xfrm>
          <a:prstGeom prst="rect">
            <a:avLst/>
          </a:prstGeom>
        </p:spPr>
      </p:pic>
      <p:sp>
        <p:nvSpPr>
          <p:cNvPr id="15" name="Rectangle 14">
            <a:extLst>
              <a:ext uri="{FF2B5EF4-FFF2-40B4-BE49-F238E27FC236}">
                <a16:creationId xmlns:a16="http://schemas.microsoft.com/office/drawing/2014/main" id="{3F80D180-F046-4189-8951-573C7FA1C0DA}"/>
              </a:ext>
            </a:extLst>
          </p:cNvPr>
          <p:cNvSpPr/>
          <p:nvPr/>
        </p:nvSpPr>
        <p:spPr>
          <a:xfrm>
            <a:off x="363720" y="4157245"/>
            <a:ext cx="4572000" cy="646331"/>
          </a:xfrm>
          <a:prstGeom prst="rect">
            <a:avLst/>
          </a:prstGeom>
        </p:spPr>
        <p:txBody>
          <a:bodyPr>
            <a:spAutoFit/>
          </a:bodyPr>
          <a:lstStyle/>
          <a:p>
            <a:r>
              <a:rPr lang="en-US" dirty="0">
                <a:latin typeface="StoneSerifStd-Medium"/>
              </a:rPr>
              <a:t>Selenium dioxide, SeO</a:t>
            </a:r>
            <a:r>
              <a:rPr lang="en-US" sz="800" dirty="0">
                <a:latin typeface="StoneSerifStd-Medium"/>
              </a:rPr>
              <a:t>2 </a:t>
            </a:r>
            <a:r>
              <a:rPr lang="en-US" dirty="0">
                <a:latin typeface="StoneSerifStd-Medium"/>
              </a:rPr>
              <a:t>oxidizes </a:t>
            </a:r>
            <a:r>
              <a:rPr lang="en-US" b="1" dirty="0"/>
              <a:t>allylic methyl group to </a:t>
            </a:r>
            <a:r>
              <a:rPr lang="en-US" dirty="0">
                <a:latin typeface="StoneSerifStd-Medium"/>
              </a:rPr>
              <a:t>make enals.</a:t>
            </a:r>
            <a:endParaRPr lang="en-US" dirty="0"/>
          </a:p>
        </p:txBody>
      </p:sp>
      <p:sp>
        <p:nvSpPr>
          <p:cNvPr id="16" name="Rectangle 15">
            <a:extLst>
              <a:ext uri="{FF2B5EF4-FFF2-40B4-BE49-F238E27FC236}">
                <a16:creationId xmlns:a16="http://schemas.microsoft.com/office/drawing/2014/main" id="{D428CCD0-88CB-45A5-BDB3-223F506A74CC}"/>
              </a:ext>
            </a:extLst>
          </p:cNvPr>
          <p:cNvSpPr/>
          <p:nvPr/>
        </p:nvSpPr>
        <p:spPr>
          <a:xfrm>
            <a:off x="380761" y="4794020"/>
            <a:ext cx="4285717" cy="369332"/>
          </a:xfrm>
          <a:prstGeom prst="rect">
            <a:avLst/>
          </a:prstGeom>
        </p:spPr>
        <p:txBody>
          <a:bodyPr wrap="square">
            <a:spAutoFit/>
          </a:bodyPr>
          <a:lstStyle/>
          <a:p>
            <a:r>
              <a:rPr lang="en-US" dirty="0"/>
              <a:t>(Not applicable to benzylic methyl group)</a:t>
            </a:r>
          </a:p>
        </p:txBody>
      </p:sp>
      <p:cxnSp>
        <p:nvCxnSpPr>
          <p:cNvPr id="18" name="Straight Connector 17">
            <a:extLst>
              <a:ext uri="{FF2B5EF4-FFF2-40B4-BE49-F238E27FC236}">
                <a16:creationId xmlns:a16="http://schemas.microsoft.com/office/drawing/2014/main" id="{3DDC3E9E-461B-4866-BFFF-7933F06AE6AD}"/>
              </a:ext>
            </a:extLst>
          </p:cNvPr>
          <p:cNvCxnSpPr/>
          <p:nvPr/>
        </p:nvCxnSpPr>
        <p:spPr>
          <a:xfrm>
            <a:off x="419408" y="4049601"/>
            <a:ext cx="8267392" cy="0"/>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373AFC17-6CB3-409D-A629-9D8EC1A883C7}"/>
              </a:ext>
            </a:extLst>
          </p:cNvPr>
          <p:cNvPicPr>
            <a:picLocks noChangeAspect="1"/>
          </p:cNvPicPr>
          <p:nvPr/>
        </p:nvPicPr>
        <p:blipFill>
          <a:blip r:embed="rId7"/>
          <a:stretch>
            <a:fillRect/>
          </a:stretch>
        </p:blipFill>
        <p:spPr>
          <a:xfrm>
            <a:off x="4718639" y="4893291"/>
            <a:ext cx="4261361" cy="1577364"/>
          </a:xfrm>
          <a:prstGeom prst="rect">
            <a:avLst/>
          </a:prstGeom>
        </p:spPr>
      </p:pic>
      <p:sp>
        <p:nvSpPr>
          <p:cNvPr id="20" name="TextBox 19">
            <a:extLst>
              <a:ext uri="{FF2B5EF4-FFF2-40B4-BE49-F238E27FC236}">
                <a16:creationId xmlns:a16="http://schemas.microsoft.com/office/drawing/2014/main" id="{D0D0B289-88B5-48D9-96DD-55198FBB0224}"/>
              </a:ext>
            </a:extLst>
          </p:cNvPr>
          <p:cNvSpPr txBox="1"/>
          <p:nvPr/>
        </p:nvSpPr>
        <p:spPr>
          <a:xfrm>
            <a:off x="446302" y="5249108"/>
            <a:ext cx="3447610" cy="276999"/>
          </a:xfrm>
          <a:prstGeom prst="rect">
            <a:avLst/>
          </a:prstGeom>
          <a:noFill/>
        </p:spPr>
        <p:txBody>
          <a:bodyPr wrap="none" rtlCol="0">
            <a:spAutoFit/>
          </a:bodyPr>
          <a:lstStyle/>
          <a:p>
            <a:r>
              <a:rPr lang="en-US" sz="1200" dirty="0">
                <a:solidFill>
                  <a:schemeClr val="bg1">
                    <a:lumMod val="50000"/>
                  </a:schemeClr>
                </a:solidFill>
              </a:rPr>
              <a:t>Mechanism: will be discussed in pericyclic reactions</a:t>
            </a:r>
          </a:p>
        </p:txBody>
      </p:sp>
    </p:spTree>
    <p:extLst>
      <p:ext uri="{BB962C8B-B14F-4D97-AF65-F5344CB8AC3E}">
        <p14:creationId xmlns:p14="http://schemas.microsoft.com/office/powerpoint/2010/main" val="2501773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44532"/>
            <a:ext cx="7772400" cy="1470025"/>
          </a:xfrm>
        </p:spPr>
        <p:txBody>
          <a:bodyPr>
            <a:normAutofit/>
          </a:bodyPr>
          <a:lstStyle/>
          <a:p>
            <a:pPr algn="r"/>
            <a:r>
              <a:rPr lang="en-US" sz="3600" b="1" dirty="0"/>
              <a:t>CM3121 – Advanced Organic Chemistry</a:t>
            </a:r>
          </a:p>
        </p:txBody>
      </p:sp>
      <p:pic>
        <p:nvPicPr>
          <p:cNvPr id="25602" name="Picture 2" descr="http://www.nus.edu.sg/identity/images/identity/logo/fullcolorlogo.jpg"/>
          <p:cNvPicPr>
            <a:picLocks noChangeAspect="1" noChangeArrowheads="1"/>
          </p:cNvPicPr>
          <p:nvPr/>
        </p:nvPicPr>
        <p:blipFill>
          <a:blip r:embed="rId2" cstate="print"/>
          <a:srcRect/>
          <a:stretch>
            <a:fillRect/>
          </a:stretch>
        </p:blipFill>
        <p:spPr bwMode="auto">
          <a:xfrm>
            <a:off x="6553200" y="328390"/>
            <a:ext cx="1714500" cy="828676"/>
          </a:xfrm>
          <a:prstGeom prst="rect">
            <a:avLst/>
          </a:prstGeom>
          <a:noFill/>
        </p:spPr>
      </p:pic>
      <p:sp>
        <p:nvSpPr>
          <p:cNvPr id="6" name="Subtitle 2"/>
          <p:cNvSpPr txBox="1">
            <a:spLocks/>
          </p:cNvSpPr>
          <p:nvPr/>
        </p:nvSpPr>
        <p:spPr>
          <a:xfrm>
            <a:off x="1996109" y="2802023"/>
            <a:ext cx="6400800" cy="17526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r>
              <a:rPr lang="en-US" sz="2400" dirty="0">
                <a:solidFill>
                  <a:schemeClr val="tx1"/>
                </a:solidFill>
              </a:rPr>
              <a:t>Dr. Zhu Ye</a:t>
            </a:r>
          </a:p>
          <a:p>
            <a:pPr algn="r"/>
            <a:r>
              <a:rPr lang="en-US" sz="2400" dirty="0">
                <a:solidFill>
                  <a:schemeClr val="tx1"/>
                </a:solidFill>
              </a:rPr>
              <a:t>Office: S9-14/Tel: 66017501</a:t>
            </a:r>
          </a:p>
          <a:p>
            <a:pPr algn="r"/>
            <a:r>
              <a:rPr lang="en-US" sz="2400" dirty="0">
                <a:solidFill>
                  <a:schemeClr val="tx1"/>
                </a:solidFill>
                <a:hlinkClick r:id="rId3"/>
              </a:rPr>
              <a:t>chmzhu@nus.edu.sg</a:t>
            </a:r>
            <a:endParaRPr lang="en-US" sz="2400" dirty="0">
              <a:solidFill>
                <a:schemeClr val="tx1"/>
              </a:solidFill>
            </a:endParaRPr>
          </a:p>
        </p:txBody>
      </p:sp>
      <p:sp>
        <p:nvSpPr>
          <p:cNvPr id="8" name="Subtitle 3">
            <a:extLst>
              <a:ext uri="{FF2B5EF4-FFF2-40B4-BE49-F238E27FC236}">
                <a16:creationId xmlns:a16="http://schemas.microsoft.com/office/drawing/2014/main" id="{15E9F137-5ABA-48A5-8DAD-4D9C52933E1A}"/>
              </a:ext>
            </a:extLst>
          </p:cNvPr>
          <p:cNvSpPr>
            <a:spLocks noGrp="1"/>
          </p:cNvSpPr>
          <p:nvPr>
            <p:ph type="subTitle" idx="1"/>
          </p:nvPr>
        </p:nvSpPr>
        <p:spPr>
          <a:xfrm>
            <a:off x="1371600" y="5029200"/>
            <a:ext cx="6400800" cy="609600"/>
          </a:xfrm>
        </p:spPr>
        <p:txBody>
          <a:bodyPr>
            <a:normAutofit/>
          </a:bodyPr>
          <a:lstStyle/>
          <a:p>
            <a:r>
              <a:rPr lang="en-US" dirty="0">
                <a:latin typeface="Calibri" panose="020F0502020204030204" pitchFamily="34" charset="0"/>
                <a:cs typeface="Calibri" panose="020F0502020204030204" pitchFamily="34" charset="0"/>
              </a:rPr>
              <a:t>Synthesis of Alkenes</a:t>
            </a:r>
            <a:endParaRPr lang="en-SG"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4863-7A37-4D7A-BC40-9353E2F81F14}"/>
              </a:ext>
            </a:extLst>
          </p:cNvPr>
          <p:cNvSpPr>
            <a:spLocks noGrp="1"/>
          </p:cNvSpPr>
          <p:nvPr>
            <p:ph type="title"/>
          </p:nvPr>
        </p:nvSpPr>
        <p:spPr/>
        <p:txBody>
          <a:bodyPr/>
          <a:lstStyle/>
          <a:p>
            <a:r>
              <a:rPr lang="en-US" sz="2400" b="1" dirty="0">
                <a:latin typeface="+mn-lt"/>
                <a:ea typeface="+mn-ea"/>
                <a:cs typeface="+mn-cs"/>
              </a:rPr>
              <a:t>Alkenes from petroleum industry</a:t>
            </a:r>
          </a:p>
        </p:txBody>
      </p:sp>
      <p:pic>
        <p:nvPicPr>
          <p:cNvPr id="6146" name="Picture 2" descr="Cracking of n-octane to give pentane and propene">
            <a:extLst>
              <a:ext uri="{FF2B5EF4-FFF2-40B4-BE49-F238E27FC236}">
                <a16:creationId xmlns:a16="http://schemas.microsoft.com/office/drawing/2014/main" id="{635B68C0-4B43-442F-BF78-4DAF0AA8A2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8255" y="1752600"/>
            <a:ext cx="6027490" cy="5839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6E5FABC-08DB-4862-B2C7-F362D108EE92}"/>
              </a:ext>
            </a:extLst>
          </p:cNvPr>
          <p:cNvSpPr/>
          <p:nvPr/>
        </p:nvSpPr>
        <p:spPr>
          <a:xfrm>
            <a:off x="733895" y="1254189"/>
            <a:ext cx="1699311" cy="300082"/>
          </a:xfrm>
          <a:prstGeom prst="rect">
            <a:avLst/>
          </a:prstGeom>
        </p:spPr>
        <p:txBody>
          <a:bodyPr wrap="none">
            <a:spAutoFit/>
          </a:bodyPr>
          <a:lstStyle/>
          <a:p>
            <a:r>
              <a:rPr lang="en-US" sz="1350" dirty="0"/>
              <a:t>hydrocarbon cracking</a:t>
            </a:r>
          </a:p>
        </p:txBody>
      </p:sp>
      <p:sp>
        <p:nvSpPr>
          <p:cNvPr id="6" name="Rectangle 5">
            <a:extLst>
              <a:ext uri="{FF2B5EF4-FFF2-40B4-BE49-F238E27FC236}">
                <a16:creationId xmlns:a16="http://schemas.microsoft.com/office/drawing/2014/main" id="{29446B39-C2FF-48C9-BA18-44AACEF05D15}"/>
              </a:ext>
            </a:extLst>
          </p:cNvPr>
          <p:cNvSpPr/>
          <p:nvPr/>
        </p:nvSpPr>
        <p:spPr>
          <a:xfrm>
            <a:off x="683178" y="2500017"/>
            <a:ext cx="2011128" cy="300082"/>
          </a:xfrm>
          <a:prstGeom prst="rect">
            <a:avLst/>
          </a:prstGeom>
        </p:spPr>
        <p:txBody>
          <a:bodyPr wrap="none">
            <a:spAutoFit/>
          </a:bodyPr>
          <a:lstStyle/>
          <a:p>
            <a:r>
              <a:rPr lang="en-US" sz="1350" dirty="0"/>
              <a:t>catalytic dehydrogenation</a:t>
            </a:r>
          </a:p>
        </p:txBody>
      </p:sp>
      <p:pic>
        <p:nvPicPr>
          <p:cNvPr id="6148" name="Picture 4" descr="Dehydrogenation of butane to give butadiene and isomers of butene">
            <a:extLst>
              <a:ext uri="{FF2B5EF4-FFF2-40B4-BE49-F238E27FC236}">
                <a16:creationId xmlns:a16="http://schemas.microsoft.com/office/drawing/2014/main" id="{F09F44F9-427C-4F93-9636-626BE4CFC9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6129" y="3208939"/>
            <a:ext cx="6458931" cy="6391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BDBD907-9726-4E6F-BC7E-1F8B5ACC76B6}"/>
              </a:ext>
            </a:extLst>
          </p:cNvPr>
          <p:cNvPicPr>
            <a:picLocks noChangeAspect="1"/>
          </p:cNvPicPr>
          <p:nvPr/>
        </p:nvPicPr>
        <p:blipFill rotWithShape="1">
          <a:blip r:embed="rId4"/>
          <a:srcRect b="15663"/>
          <a:stretch/>
        </p:blipFill>
        <p:spPr>
          <a:xfrm>
            <a:off x="2756326" y="4863575"/>
            <a:ext cx="3631347" cy="1308625"/>
          </a:xfrm>
          <a:prstGeom prst="rect">
            <a:avLst/>
          </a:prstGeom>
        </p:spPr>
      </p:pic>
      <p:sp>
        <p:nvSpPr>
          <p:cNvPr id="5" name="Rectangle 4">
            <a:extLst>
              <a:ext uri="{FF2B5EF4-FFF2-40B4-BE49-F238E27FC236}">
                <a16:creationId xmlns:a16="http://schemas.microsoft.com/office/drawing/2014/main" id="{B9C492D9-DA00-4240-AB23-3D37F0C94736}"/>
              </a:ext>
            </a:extLst>
          </p:cNvPr>
          <p:cNvSpPr/>
          <p:nvPr/>
        </p:nvSpPr>
        <p:spPr>
          <a:xfrm>
            <a:off x="3778129" y="4457958"/>
            <a:ext cx="1587742" cy="369332"/>
          </a:xfrm>
          <a:prstGeom prst="rect">
            <a:avLst/>
          </a:prstGeom>
        </p:spPr>
        <p:txBody>
          <a:bodyPr wrap="none">
            <a:spAutoFit/>
          </a:bodyPr>
          <a:lstStyle/>
          <a:p>
            <a:r>
              <a:rPr lang="en-US" dirty="0"/>
              <a:t>polymerization</a:t>
            </a:r>
          </a:p>
        </p:txBody>
      </p:sp>
    </p:spTree>
    <p:extLst>
      <p:ext uri="{BB962C8B-B14F-4D97-AF65-F5344CB8AC3E}">
        <p14:creationId xmlns:p14="http://schemas.microsoft.com/office/powerpoint/2010/main" val="296398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Introduction</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US" sz="1800" dirty="0"/>
                        <a:t>Geometrical isomers of alkenes are different compounds: </a:t>
                      </a:r>
                    </a:p>
                    <a:p>
                      <a:pPr marL="342900" indent="-342900">
                        <a:buFontTx/>
                        <a:buChar char="-"/>
                      </a:pPr>
                      <a:r>
                        <a:rPr lang="en-US" sz="1800" dirty="0"/>
                        <a:t>They have different physical, chemical, and biological properties. </a:t>
                      </a:r>
                    </a:p>
                    <a:p>
                      <a:pPr marL="342900" indent="-342900">
                        <a:buFontTx/>
                        <a:buChar char="-"/>
                      </a:pPr>
                      <a:r>
                        <a:rPr lang="en-US" sz="1800" dirty="0"/>
                        <a:t>They are often hard to separate by chromatography or distillation</a:t>
                      </a:r>
                    </a:p>
                    <a:p>
                      <a:pPr marL="0" indent="0">
                        <a:buFontTx/>
                        <a:buNone/>
                      </a:pPr>
                      <a:endParaRPr lang="en-US" sz="1800" dirty="0"/>
                    </a:p>
                    <a:p>
                      <a:pPr marL="342900" indent="-342900">
                        <a:buFont typeface="Wingdings" panose="05000000000000000000" pitchFamily="2" charset="2"/>
                        <a:buChar char="à"/>
                      </a:pPr>
                      <a:r>
                        <a:rPr lang="en-US" sz="1800" dirty="0">
                          <a:sym typeface="Wingdings" panose="05000000000000000000" pitchFamily="2" charset="2"/>
                        </a:rPr>
                        <a:t>Important for chemists to synthesize them as a single isomer. </a:t>
                      </a:r>
                    </a:p>
                    <a:p>
                      <a:pPr marL="0" indent="0">
                        <a:buFont typeface="Wingdings" panose="05000000000000000000" pitchFamily="2" charset="2"/>
                        <a:buNone/>
                      </a:pPr>
                      <a:endParaRPr lang="en-US" sz="1800" dirty="0">
                        <a:sym typeface="Wingdings" panose="05000000000000000000" pitchFamily="2" charset="2"/>
                      </a:endParaRPr>
                    </a:p>
                    <a:p>
                      <a:pPr marL="0" indent="0">
                        <a:buFont typeface="Wingdings" panose="05000000000000000000" pitchFamily="2" charset="2"/>
                        <a:buNone/>
                      </a:pPr>
                      <a:endParaRPr lang="en-US" sz="1800" dirty="0">
                        <a:sym typeface="Wingdings" panose="05000000000000000000" pitchFamily="2" charset="2"/>
                      </a:endParaRPr>
                    </a:p>
                    <a:p>
                      <a:pPr marL="0" indent="0">
                        <a:buFont typeface="Wingdings" panose="05000000000000000000" pitchFamily="2" charset="2"/>
                        <a:buNone/>
                      </a:pPr>
                      <a:endParaRPr lang="en-US" sz="1800" dirty="0">
                        <a:sym typeface="Wingdings" panose="05000000000000000000" pitchFamily="2" charset="2"/>
                      </a:endParaRPr>
                    </a:p>
                    <a:p>
                      <a:pPr marL="0" indent="0">
                        <a:buFont typeface="Wingdings" panose="05000000000000000000" pitchFamily="2" charset="2"/>
                        <a:buNone/>
                      </a:pPr>
                      <a:r>
                        <a:rPr lang="en-US" sz="1800" dirty="0">
                          <a:sym typeface="Wingdings" panose="05000000000000000000" pitchFamily="2" charset="2"/>
                        </a:rPr>
                        <a:t>E2 elimination reactions: </a:t>
                      </a:r>
                    </a:p>
                    <a:p>
                      <a:pPr marL="0" indent="0">
                        <a:buFont typeface="Wingdings" panose="05000000000000000000" pitchFamily="2" charset="2"/>
                        <a:buNone/>
                      </a:pPr>
                      <a:endParaRPr lang="en-US"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21</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2" name="Content Placeholder 7">
            <a:extLst>
              <a:ext uri="{FF2B5EF4-FFF2-40B4-BE49-F238E27FC236}">
                <a16:creationId xmlns:a16="http://schemas.microsoft.com/office/drawing/2014/main" id="{319032D3-4F8C-44B1-8C8F-9FB6D64B394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4112721"/>
            <a:ext cx="6400800" cy="224362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3722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Outlines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514350" marR="0" lvl="0" indent="-514350" algn="l" defTabSz="914400" rtl="0" eaLnBrk="1" fontAlgn="auto" latinLnBrk="0" hangingPunct="1">
                        <a:lnSpc>
                          <a:spcPct val="100000"/>
                        </a:lnSpc>
                        <a:spcBef>
                          <a:spcPts val="0"/>
                        </a:spcBef>
                        <a:spcAft>
                          <a:spcPts val="0"/>
                        </a:spcAft>
                        <a:buClrTx/>
                        <a:buSzTx/>
                        <a:buFont typeface="+mj-lt"/>
                        <a:buAutoNum type="romanUcPeriod"/>
                        <a:tabLst/>
                        <a:defRPr/>
                      </a:pPr>
                      <a:r>
                        <a:rPr lang="en-US" sz="1800" b="1" dirty="0">
                          <a:solidFill>
                            <a:schemeClr val="tx1"/>
                          </a:solidFill>
                        </a:rPr>
                        <a:t>Stereoselective synthesis of alkenes from alkynes</a:t>
                      </a:r>
                      <a:endParaRPr lang="en-SG" sz="1800" b="1" dirty="0">
                        <a:solidFill>
                          <a:schemeClr val="tx1"/>
                        </a:solidFill>
                      </a:endParaRPr>
                    </a:p>
                    <a:p>
                      <a:pPr marL="514350" indent="-514350">
                        <a:buFont typeface="+mj-lt"/>
                        <a:buAutoNum type="romanUcPeriod"/>
                      </a:pPr>
                      <a:endParaRPr lang="en-US" sz="1800" b="1" dirty="0"/>
                    </a:p>
                    <a:p>
                      <a:pPr marL="514350" indent="-514350">
                        <a:buFont typeface="+mj-lt"/>
                        <a:buAutoNum type="romanUcPeriod"/>
                      </a:pPr>
                      <a:r>
                        <a:rPr lang="en-US" sz="1800" b="1" dirty="0"/>
                        <a:t>The Wittig Reaction</a:t>
                      </a:r>
                    </a:p>
                    <a:p>
                      <a:pPr marL="514350" indent="-514350">
                        <a:buFont typeface="+mj-lt"/>
                        <a:buAutoNum type="romanUcPeriod"/>
                      </a:pPr>
                      <a:endParaRPr lang="en-US" sz="1800" b="0" dirty="0"/>
                    </a:p>
                    <a:p>
                      <a:pPr marL="514350" indent="-514350">
                        <a:buFont typeface="+mj-lt"/>
                        <a:buAutoNum type="romanUcPeriod"/>
                      </a:pPr>
                      <a:r>
                        <a:rPr lang="en-US" sz="1800" b="0" dirty="0"/>
                        <a:t>Ring-closing metathesis and cross-metathesis (future lecture) </a:t>
                      </a:r>
                    </a:p>
                    <a:p>
                      <a:pPr marL="0" indent="0">
                        <a:buFont typeface="Wingdings" panose="05000000000000000000" pitchFamily="2" charset="2"/>
                        <a:buNone/>
                      </a:pPr>
                      <a:endParaRPr lang="en-US" sz="1800" b="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22</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8" name="TextBox 7">
            <a:extLst>
              <a:ext uri="{FF2B5EF4-FFF2-40B4-BE49-F238E27FC236}">
                <a16:creationId xmlns:a16="http://schemas.microsoft.com/office/drawing/2014/main" id="{873AA0DA-90BD-4E77-BFD8-CEAF828C3189}"/>
              </a:ext>
            </a:extLst>
          </p:cNvPr>
          <p:cNvSpPr txBox="1"/>
          <p:nvPr/>
        </p:nvSpPr>
        <p:spPr>
          <a:xfrm>
            <a:off x="689493" y="4144398"/>
            <a:ext cx="6799297" cy="784830"/>
          </a:xfrm>
          <a:prstGeom prst="rect">
            <a:avLst/>
          </a:prstGeom>
          <a:noFill/>
        </p:spPr>
        <p:txBody>
          <a:bodyPr wrap="none" rtlCol="0">
            <a:spAutoFit/>
          </a:bodyPr>
          <a:lstStyle/>
          <a:p>
            <a:r>
              <a:rPr lang="en-US" sz="1500" dirty="0"/>
              <a:t>Readings: </a:t>
            </a:r>
          </a:p>
          <a:p>
            <a:pPr marL="214313" indent="-214313">
              <a:buFont typeface="Arial" panose="020B0604020202020204" pitchFamily="34" charset="0"/>
              <a:buChar char="•"/>
            </a:pPr>
            <a:r>
              <a:rPr lang="en-US" sz="1500" dirty="0"/>
              <a:t>Clayden 2</a:t>
            </a:r>
            <a:r>
              <a:rPr lang="en-US" sz="1500" baseline="30000" dirty="0"/>
              <a:t>nd</a:t>
            </a:r>
            <a:r>
              <a:rPr lang="en-US" sz="1500" dirty="0"/>
              <a:t> ed; Chapter 27 (p 677-693: The stereoselective synthesis of alkenes)</a:t>
            </a:r>
          </a:p>
          <a:p>
            <a:pPr marL="214313" indent="-214313">
              <a:buFont typeface="Arial" panose="020B0604020202020204" pitchFamily="34" charset="0"/>
              <a:buChar char="•"/>
            </a:pPr>
            <a:r>
              <a:rPr lang="en-US" sz="1500" dirty="0"/>
              <a:t>McMurry 10</a:t>
            </a:r>
            <a:r>
              <a:rPr lang="en-US" sz="1500" baseline="30000" dirty="0"/>
              <a:t>th</a:t>
            </a:r>
            <a:r>
              <a:rPr lang="en-US" sz="1500" dirty="0"/>
              <a:t> ed. Section 19.11 (Wittig reactions) and 17.6 (Reactions of alcohols)</a:t>
            </a:r>
            <a:endParaRPr lang="en-SG" sz="1500" dirty="0"/>
          </a:p>
        </p:txBody>
      </p:sp>
    </p:spTree>
    <p:extLst>
      <p:ext uri="{BB962C8B-B14F-4D97-AF65-F5344CB8AC3E}">
        <p14:creationId xmlns:p14="http://schemas.microsoft.com/office/powerpoint/2010/main" val="3938470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266104553"/>
              </p:ext>
            </p:extLst>
          </p:nvPr>
        </p:nvGraphicFramePr>
        <p:xfrm>
          <a:off x="574110"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I. Stereoselective synthesis of alkenes from alkynes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FontTx/>
                        <a:buNone/>
                      </a:pPr>
                      <a:r>
                        <a:rPr lang="en-US" sz="1800" dirty="0"/>
                        <a:t>Synthesis of </a:t>
                      </a:r>
                      <a:r>
                        <a:rPr lang="en-US" sz="1800" u="sng" dirty="0"/>
                        <a:t>Z- alkenes</a:t>
                      </a:r>
                      <a:r>
                        <a:rPr lang="en-US" sz="1800" dirty="0"/>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Alkynes</a:t>
                      </a:r>
                      <a:r>
                        <a:rPr lang="en-US" sz="1800" dirty="0"/>
                        <a:t> react with H</a:t>
                      </a:r>
                      <a:r>
                        <a:rPr lang="en-US" sz="1800" baseline="-25000" dirty="0"/>
                        <a:t>2</a:t>
                      </a:r>
                      <a:r>
                        <a:rPr lang="en-US" sz="1800" dirty="0"/>
                        <a:t> in the presence of </a:t>
                      </a:r>
                      <a:r>
                        <a:rPr lang="en-US" sz="1800" dirty="0" err="1"/>
                        <a:t>Lindlar</a:t>
                      </a:r>
                      <a:r>
                        <a:rPr lang="en-US" sz="1800" dirty="0"/>
                        <a:t> catalyst (Pd, Pb(</a:t>
                      </a:r>
                      <a:r>
                        <a:rPr lang="en-US" sz="1800" dirty="0" err="1"/>
                        <a:t>OAc</a:t>
                      </a:r>
                      <a:r>
                        <a:rPr lang="en-US" sz="1800" dirty="0"/>
                        <a:t>)</a:t>
                      </a:r>
                      <a:r>
                        <a:rPr lang="en-US" sz="1800" baseline="-25000" dirty="0"/>
                        <a:t>2</a:t>
                      </a:r>
                      <a:r>
                        <a:rPr lang="en-US" sz="1800" dirty="0"/>
                        <a:t> on a support of CaCO</a:t>
                      </a:r>
                      <a:r>
                        <a:rPr lang="en-US" sz="1800" baseline="-25000" dirty="0"/>
                        <a:t>3</a:t>
                      </a:r>
                      <a:r>
                        <a:rPr lang="en-US" sz="1800" baseline="0" dirty="0"/>
                        <a:t>) </a:t>
                      </a:r>
                      <a:r>
                        <a:rPr lang="en-US" sz="1800" dirty="0"/>
                        <a:t>to give cis-alkenes</a:t>
                      </a:r>
                    </a:p>
                    <a:p>
                      <a:pPr marL="0" indent="0">
                        <a:buFont typeface="Wingdings" panose="05000000000000000000" pitchFamily="2" charset="2"/>
                        <a:buNone/>
                      </a:pPr>
                      <a:endParaRPr lang="en-US" sz="1800" dirty="0"/>
                    </a:p>
                    <a:p>
                      <a:pPr marL="0" indent="0">
                        <a:buFont typeface="Wingdings" panose="05000000000000000000" pitchFamily="2" charset="2"/>
                        <a:buNone/>
                      </a:pPr>
                      <a:endParaRPr lang="en-US" sz="1800" dirty="0"/>
                    </a:p>
                    <a:p>
                      <a:pPr marL="0" indent="0">
                        <a:buFont typeface="Wingdings" panose="05000000000000000000" pitchFamily="2" charset="2"/>
                        <a:buNone/>
                      </a:pPr>
                      <a:endParaRPr lang="en-US" sz="1800" dirty="0"/>
                    </a:p>
                    <a:p>
                      <a:pPr marL="0" indent="0">
                        <a:buFont typeface="Wingdings" panose="05000000000000000000" pitchFamily="2" charset="2"/>
                        <a:buNone/>
                      </a:pPr>
                      <a:endParaRPr lang="en-US" sz="1800" dirty="0"/>
                    </a:p>
                    <a:p>
                      <a:pPr marL="0" indent="0">
                        <a:buFont typeface="Wingdings" panose="05000000000000000000" pitchFamily="2" charset="2"/>
                        <a:buNone/>
                      </a:pPr>
                      <a:endParaRPr lang="en-US" sz="1800" dirty="0"/>
                    </a:p>
                    <a:p>
                      <a:pPr marL="0" indent="0">
                        <a:buFont typeface="Wingdings" panose="05000000000000000000" pitchFamily="2" charset="2"/>
                        <a:buNone/>
                      </a:pPr>
                      <a:r>
                        <a:rPr lang="en-US" sz="1800" dirty="0"/>
                        <a:t>To synthesis of </a:t>
                      </a:r>
                      <a:r>
                        <a:rPr lang="en-US" sz="1800" u="sng" dirty="0"/>
                        <a:t>E-alkenes</a:t>
                      </a:r>
                      <a:r>
                        <a:rPr lang="en-US" sz="1800" dirty="0"/>
                        <a:t>: </a:t>
                      </a:r>
                    </a:p>
                    <a:p>
                      <a:pPr marL="342900" indent="-342900">
                        <a:buFont typeface="Arial" panose="020B0604020202020204" pitchFamily="34" charset="0"/>
                        <a:buChar char="•"/>
                      </a:pPr>
                      <a:r>
                        <a:rPr lang="en-US" sz="1800" dirty="0"/>
                        <a:t>Alkynes react with sodium in liquid ammonia to give E-alkenes </a:t>
                      </a:r>
                    </a:p>
                    <a:p>
                      <a:pPr marL="0" indent="0">
                        <a:buFont typeface="Wingdings" panose="05000000000000000000" pitchFamily="2" charset="2"/>
                        <a:buNone/>
                      </a:pPr>
                      <a:endParaRPr lang="en-US"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23</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3" name="Content Placeholder 7">
            <a:extLst>
              <a:ext uri="{FF2B5EF4-FFF2-40B4-BE49-F238E27FC236}">
                <a16:creationId xmlns:a16="http://schemas.microsoft.com/office/drawing/2014/main" id="{618CD4AD-2685-4678-83EC-DB47A7B16EE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7852"/>
          <a:stretch/>
        </p:blipFill>
        <p:spPr bwMode="auto">
          <a:xfrm>
            <a:off x="2016890" y="2483801"/>
            <a:ext cx="4161968" cy="7338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Content Placeholder 7">
            <a:extLst>
              <a:ext uri="{FF2B5EF4-FFF2-40B4-BE49-F238E27FC236}">
                <a16:creationId xmlns:a16="http://schemas.microsoft.com/office/drawing/2014/main" id="{E8F0D80D-472B-4780-A26F-5398D63E0EEC}"/>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686107" y="4501259"/>
            <a:ext cx="4087368" cy="40805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684A6BF0-5A9C-49C5-9CD3-47D55E0DEDE6}"/>
              </a:ext>
            </a:extLst>
          </p:cNvPr>
          <p:cNvSpPr/>
          <p:nvPr/>
        </p:nvSpPr>
        <p:spPr>
          <a:xfrm>
            <a:off x="5929312" y="2936081"/>
            <a:ext cx="528638" cy="342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a:p>
        </p:txBody>
      </p:sp>
    </p:spTree>
    <p:extLst>
      <p:ext uri="{BB962C8B-B14F-4D97-AF65-F5344CB8AC3E}">
        <p14:creationId xmlns:p14="http://schemas.microsoft.com/office/powerpoint/2010/main" val="2113946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44547300"/>
              </p:ext>
            </p:extLst>
          </p:nvPr>
        </p:nvGraphicFramePr>
        <p:xfrm>
          <a:off x="580768" y="90105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Mechanism </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342900" indent="-342900">
                        <a:buFontTx/>
                        <a:buChar char="-"/>
                      </a:pPr>
                      <a:endParaRPr lang="en-US" sz="1500" dirty="0"/>
                    </a:p>
                    <a:p>
                      <a:pPr marL="342900" indent="-342900">
                        <a:buFontTx/>
                        <a:buChar char="-"/>
                      </a:pPr>
                      <a:endParaRPr lang="en-US" sz="1500" dirty="0"/>
                    </a:p>
                    <a:p>
                      <a:pPr marL="342900" indent="-342900">
                        <a:buFontTx/>
                        <a:buChar char="-"/>
                      </a:pPr>
                      <a:endParaRPr lang="en-US" sz="1500" dirty="0"/>
                    </a:p>
                    <a:p>
                      <a:pPr marL="342900" indent="-342900">
                        <a:buFontTx/>
                        <a:buChar char="-"/>
                      </a:pPr>
                      <a:endParaRPr lang="en-US" sz="1500" dirty="0"/>
                    </a:p>
                    <a:p>
                      <a:pPr marL="0" indent="0">
                        <a:buFontTx/>
                        <a:buNone/>
                      </a:pPr>
                      <a:r>
                        <a:rPr lang="en-US" sz="1800" dirty="0"/>
                        <a:t>Mechanism: single electron transfer (radicals as intermediates)</a:t>
                      </a:r>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24</a:t>
            </a:fld>
            <a:endParaRPr lang="en-US"/>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4" name="Rectangle 2">
            <a:extLst>
              <a:ext uri="{FF2B5EF4-FFF2-40B4-BE49-F238E27FC236}">
                <a16:creationId xmlns:a16="http://schemas.microsoft.com/office/drawing/2014/main" id="{9CC252BD-CAFC-4083-90E9-271E61A44A7B}"/>
              </a:ext>
            </a:extLst>
          </p:cNvPr>
          <p:cNvSpPr>
            <a:spLocks noChangeArrowheads="1"/>
          </p:cNvSpPr>
          <p:nvPr/>
        </p:nvSpPr>
        <p:spPr bwMode="auto">
          <a:xfrm>
            <a:off x="1229097" y="239384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3" name="Content Placeholder 7">
            <a:extLst>
              <a:ext uri="{FF2B5EF4-FFF2-40B4-BE49-F238E27FC236}">
                <a16:creationId xmlns:a16="http://schemas.microsoft.com/office/drawing/2014/main" id="{80F4D8D9-F7A1-44CD-ACCE-6EC1D8AFF62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366511" y="1566458"/>
            <a:ext cx="4087368" cy="40805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Content Placeholder 7">
            <a:extLst>
              <a:ext uri="{FF2B5EF4-FFF2-40B4-BE49-F238E27FC236}">
                <a16:creationId xmlns:a16="http://schemas.microsoft.com/office/drawing/2014/main" id="{509B657C-4B1A-4327-832B-116EA19741E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6902" y="3090184"/>
            <a:ext cx="6827139" cy="63093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B8E78FC9-70D6-41FA-B01B-29B622B783FB}"/>
              </a:ext>
            </a:extLst>
          </p:cNvPr>
          <p:cNvSpPr/>
          <p:nvPr/>
        </p:nvSpPr>
        <p:spPr>
          <a:xfrm>
            <a:off x="2743200" y="3955791"/>
            <a:ext cx="804772" cy="369332"/>
          </a:xfrm>
          <a:prstGeom prst="rect">
            <a:avLst/>
          </a:prstGeom>
        </p:spPr>
        <p:txBody>
          <a:bodyPr wrap="none">
            <a:spAutoFit/>
          </a:bodyPr>
          <a:lstStyle/>
          <a:p>
            <a:r>
              <a:rPr lang="en-US" dirty="0"/>
              <a:t>radical</a:t>
            </a:r>
          </a:p>
        </p:txBody>
      </p:sp>
      <p:cxnSp>
        <p:nvCxnSpPr>
          <p:cNvPr id="9" name="Straight Arrow Connector 8">
            <a:extLst>
              <a:ext uri="{FF2B5EF4-FFF2-40B4-BE49-F238E27FC236}">
                <a16:creationId xmlns:a16="http://schemas.microsoft.com/office/drawing/2014/main" id="{350BEA81-21FA-4552-9D60-A284D1D489B1}"/>
              </a:ext>
            </a:extLst>
          </p:cNvPr>
          <p:cNvCxnSpPr/>
          <p:nvPr/>
        </p:nvCxnSpPr>
        <p:spPr>
          <a:xfrm flipV="1">
            <a:off x="3124200" y="3581400"/>
            <a:ext cx="0" cy="374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281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90105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Examples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342900" indent="-342900">
                        <a:buFontTx/>
                        <a:buChar char="-"/>
                      </a:pPr>
                      <a:endParaRPr lang="en-US" sz="1500" dirty="0"/>
                    </a:p>
                    <a:p>
                      <a:pPr marL="342900" indent="-342900">
                        <a:buFontTx/>
                        <a:buChar char="-"/>
                      </a:pPr>
                      <a:endParaRPr lang="en-US" sz="1500" dirty="0"/>
                    </a:p>
                    <a:p>
                      <a:pPr marL="342900" indent="-342900">
                        <a:buFontTx/>
                        <a:buChar char="-"/>
                      </a:pPr>
                      <a:endParaRPr lang="en-US" sz="1500" dirty="0"/>
                    </a:p>
                    <a:p>
                      <a:pPr marL="342900" indent="-342900">
                        <a:buFontTx/>
                        <a:buChar char="-"/>
                      </a:pPr>
                      <a:endParaRPr lang="en-US" sz="15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p>
                      <a:pPr marL="342900" indent="-342900">
                        <a:buFontTx/>
                        <a:buChar char="-"/>
                      </a:pPr>
                      <a:endParaRPr lang="en-US"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25</a:t>
            </a:fld>
            <a:endParaRPr lang="en-US"/>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4" name="Rectangle 2">
            <a:extLst>
              <a:ext uri="{FF2B5EF4-FFF2-40B4-BE49-F238E27FC236}">
                <a16:creationId xmlns:a16="http://schemas.microsoft.com/office/drawing/2014/main" id="{9CC252BD-CAFC-4083-90E9-271E61A44A7B}"/>
              </a:ext>
            </a:extLst>
          </p:cNvPr>
          <p:cNvSpPr>
            <a:spLocks noChangeArrowheads="1"/>
          </p:cNvSpPr>
          <p:nvPr/>
        </p:nvSpPr>
        <p:spPr bwMode="auto">
          <a:xfrm>
            <a:off x="1229097" y="239384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7" name="Rectangle 16">
            <a:extLst>
              <a:ext uri="{FF2B5EF4-FFF2-40B4-BE49-F238E27FC236}">
                <a16:creationId xmlns:a16="http://schemas.microsoft.com/office/drawing/2014/main" id="{2CFC0A7F-5F58-40A8-9B0E-616EAC7357F7}"/>
              </a:ext>
            </a:extLst>
          </p:cNvPr>
          <p:cNvSpPr/>
          <p:nvPr/>
        </p:nvSpPr>
        <p:spPr>
          <a:xfrm>
            <a:off x="726669" y="5473933"/>
            <a:ext cx="2521909" cy="300082"/>
          </a:xfrm>
          <a:prstGeom prst="rect">
            <a:avLst/>
          </a:prstGeom>
        </p:spPr>
        <p:txBody>
          <a:bodyPr wrap="none">
            <a:spAutoFit/>
          </a:bodyPr>
          <a:lstStyle/>
          <a:p>
            <a:r>
              <a:rPr lang="nn-NO" sz="1350" i="1" dirty="0">
                <a:latin typeface="Arial" panose="020B0604020202020204" pitchFamily="34" charset="0"/>
              </a:rPr>
              <a:t>Org. Lett., </a:t>
            </a:r>
            <a:r>
              <a:rPr lang="nn-NO" sz="1350" dirty="0">
                <a:latin typeface="Arial" panose="020B0604020202020204" pitchFamily="34" charset="0"/>
              </a:rPr>
              <a:t>Vol. 3, No. 10, </a:t>
            </a:r>
            <a:r>
              <a:rPr lang="nn-NO" sz="1350" b="1" dirty="0">
                <a:latin typeface="Arial" panose="020B0604020202020204" pitchFamily="34" charset="0"/>
              </a:rPr>
              <a:t>2001</a:t>
            </a:r>
            <a:endParaRPr lang="en-SG" sz="1350" dirty="0"/>
          </a:p>
        </p:txBody>
      </p:sp>
      <p:graphicFrame>
        <p:nvGraphicFramePr>
          <p:cNvPr id="18" name="Object 17">
            <a:extLst>
              <a:ext uri="{FF2B5EF4-FFF2-40B4-BE49-F238E27FC236}">
                <a16:creationId xmlns:a16="http://schemas.microsoft.com/office/drawing/2014/main" id="{1355AD14-EC7A-42E0-9154-27B1A482ED89}"/>
              </a:ext>
            </a:extLst>
          </p:cNvPr>
          <p:cNvGraphicFramePr>
            <a:graphicFrameLocks noChangeAspect="1"/>
          </p:cNvGraphicFramePr>
          <p:nvPr/>
        </p:nvGraphicFramePr>
        <p:xfrm>
          <a:off x="1113145" y="1483834"/>
          <a:ext cx="5549624" cy="4239030"/>
        </p:xfrm>
        <a:graphic>
          <a:graphicData uri="http://schemas.openxmlformats.org/presentationml/2006/ole">
            <mc:AlternateContent xmlns:mc="http://schemas.openxmlformats.org/markup-compatibility/2006">
              <mc:Choice xmlns:v="urn:schemas-microsoft-com:vml" Requires="v">
                <p:oleObj name="CS ChemDraw Drawing" r:id="rId3" imgW="5691922" imgH="4347723" progId="ChemDraw.Document.6.0">
                  <p:embed/>
                </p:oleObj>
              </mc:Choice>
              <mc:Fallback>
                <p:oleObj name="CS ChemDraw Drawing" r:id="rId3" imgW="5691922" imgH="4347723" progId="ChemDraw.Document.6.0">
                  <p:embed/>
                  <p:pic>
                    <p:nvPicPr>
                      <p:cNvPr id="18" name="Object 17">
                        <a:extLst>
                          <a:ext uri="{FF2B5EF4-FFF2-40B4-BE49-F238E27FC236}">
                            <a16:creationId xmlns:a16="http://schemas.microsoft.com/office/drawing/2014/main" id="{1355AD14-EC7A-42E0-9154-27B1A482ED89}"/>
                          </a:ext>
                        </a:extLst>
                      </p:cNvPr>
                      <p:cNvPicPr/>
                      <p:nvPr/>
                    </p:nvPicPr>
                    <p:blipFill>
                      <a:blip r:embed="rId4"/>
                      <a:stretch>
                        <a:fillRect/>
                      </a:stretch>
                    </p:blipFill>
                    <p:spPr>
                      <a:xfrm>
                        <a:off x="1113145" y="1483834"/>
                        <a:ext cx="5549624" cy="4239030"/>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F0CF6003-9451-DEC7-CD51-3B04D98841E6}"/>
              </a:ext>
            </a:extLst>
          </p:cNvPr>
          <p:cNvSpPr/>
          <p:nvPr/>
        </p:nvSpPr>
        <p:spPr>
          <a:xfrm>
            <a:off x="3124200" y="1454562"/>
            <a:ext cx="1404454" cy="143081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350"/>
          </a:p>
        </p:txBody>
      </p:sp>
      <p:sp>
        <p:nvSpPr>
          <p:cNvPr id="3" name="Rectangle 2">
            <a:extLst>
              <a:ext uri="{FF2B5EF4-FFF2-40B4-BE49-F238E27FC236}">
                <a16:creationId xmlns:a16="http://schemas.microsoft.com/office/drawing/2014/main" id="{813C3513-AFA4-0AC3-554C-3DEC3A235685}"/>
              </a:ext>
            </a:extLst>
          </p:cNvPr>
          <p:cNvSpPr/>
          <p:nvPr/>
        </p:nvSpPr>
        <p:spPr>
          <a:xfrm>
            <a:off x="580768" y="1461422"/>
            <a:ext cx="2298952" cy="16272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350"/>
          </a:p>
        </p:txBody>
      </p:sp>
      <p:sp>
        <p:nvSpPr>
          <p:cNvPr id="12" name="Rectangle 11">
            <a:extLst>
              <a:ext uri="{FF2B5EF4-FFF2-40B4-BE49-F238E27FC236}">
                <a16:creationId xmlns:a16="http://schemas.microsoft.com/office/drawing/2014/main" id="{8A356206-34C7-415A-AF70-00A4B10E52EC}"/>
              </a:ext>
            </a:extLst>
          </p:cNvPr>
          <p:cNvSpPr/>
          <p:nvPr/>
        </p:nvSpPr>
        <p:spPr>
          <a:xfrm>
            <a:off x="5562600" y="3603349"/>
            <a:ext cx="436900" cy="3000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350"/>
          </a:p>
        </p:txBody>
      </p:sp>
    </p:spTree>
    <p:extLst>
      <p:ext uri="{BB962C8B-B14F-4D97-AF65-F5344CB8AC3E}">
        <p14:creationId xmlns:p14="http://schemas.microsoft.com/office/powerpoint/2010/main" val="1337663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1347174580"/>
              </p:ext>
            </p:extLst>
          </p:nvPr>
        </p:nvGraphicFramePr>
        <p:xfrm>
          <a:off x="580768" y="890588"/>
          <a:ext cx="8171420" cy="4892040"/>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2.1 Ylides</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457700">
                <a:tc>
                  <a:txBody>
                    <a:bodyPr/>
                    <a:lstStyle/>
                    <a:p>
                      <a:r>
                        <a:rPr lang="en-US" sz="1800" kern="1200" dirty="0">
                          <a:solidFill>
                            <a:schemeClr val="tx1"/>
                          </a:solidFill>
                          <a:effectLst/>
                          <a:latin typeface="+mn-lt"/>
                          <a:ea typeface="+mn-ea"/>
                          <a:cs typeface="+mn-cs"/>
                        </a:rPr>
                        <a:t>Synthesis of ylide: </a:t>
                      </a:r>
                      <a:endParaRPr lang="en-SG" sz="1800" kern="1200" dirty="0">
                        <a:solidFill>
                          <a:schemeClr val="tx1"/>
                        </a:solidFill>
                        <a:effectLst/>
                        <a:latin typeface="+mn-lt"/>
                        <a:ea typeface="+mn-ea"/>
                        <a:cs typeface="+mn-cs"/>
                      </a:endParaRPr>
                    </a:p>
                    <a:p>
                      <a:endParaRPr lang="en-SG" sz="1800" kern="1200" dirty="0">
                        <a:solidFill>
                          <a:schemeClr val="tx1"/>
                        </a:solidFill>
                        <a:effectLst/>
                        <a:latin typeface="+mn-lt"/>
                        <a:ea typeface="+mn-ea"/>
                        <a:cs typeface="+mn-cs"/>
                      </a:endParaRPr>
                    </a:p>
                    <a:p>
                      <a:endParaRPr lang="en-SG" sz="1800" kern="1200" dirty="0">
                        <a:solidFill>
                          <a:schemeClr val="tx1"/>
                        </a:solidFill>
                        <a:effectLst/>
                        <a:latin typeface="+mn-lt"/>
                        <a:ea typeface="+mn-ea"/>
                        <a:cs typeface="+mn-cs"/>
                      </a:endParaRPr>
                    </a:p>
                    <a:p>
                      <a:endParaRPr lang="en-SG" sz="1800" kern="1200" dirty="0">
                        <a:solidFill>
                          <a:schemeClr val="tx1"/>
                        </a:solidFill>
                        <a:effectLst/>
                        <a:latin typeface="+mn-lt"/>
                        <a:ea typeface="+mn-ea"/>
                        <a:cs typeface="+mn-cs"/>
                      </a:endParaRPr>
                    </a:p>
                    <a:p>
                      <a:endParaRPr lang="en-SG" sz="1800" kern="1200" dirty="0">
                        <a:solidFill>
                          <a:schemeClr val="tx1"/>
                        </a:solidFill>
                        <a:effectLst/>
                        <a:latin typeface="+mn-lt"/>
                        <a:ea typeface="+mn-ea"/>
                        <a:cs typeface="+mn-cs"/>
                      </a:endParaRPr>
                    </a:p>
                    <a:p>
                      <a:endParaRPr lang="en-SG"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26</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3" name="Rectangle 2">
            <a:extLst>
              <a:ext uri="{FF2B5EF4-FFF2-40B4-BE49-F238E27FC236}">
                <a16:creationId xmlns:a16="http://schemas.microsoft.com/office/drawing/2014/main" id="{7E194141-AED8-4488-AD15-DCD14C7A02A6}"/>
              </a:ext>
            </a:extLst>
          </p:cNvPr>
          <p:cNvSpPr>
            <a:spLocks noChangeArrowheads="1"/>
          </p:cNvSpPr>
          <p:nvPr/>
        </p:nvSpPr>
        <p:spPr bwMode="auto">
          <a:xfrm>
            <a:off x="1879270" y="224185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graphicFrame>
        <p:nvGraphicFramePr>
          <p:cNvPr id="10" name="Object 9">
            <a:extLst>
              <a:ext uri="{FF2B5EF4-FFF2-40B4-BE49-F238E27FC236}">
                <a16:creationId xmlns:a16="http://schemas.microsoft.com/office/drawing/2014/main" id="{F4DFF7EC-0E74-48FC-9DFD-BF63F692437D}"/>
              </a:ext>
            </a:extLst>
          </p:cNvPr>
          <p:cNvGraphicFramePr>
            <a:graphicFrameLocks noChangeAspect="1"/>
          </p:cNvGraphicFramePr>
          <p:nvPr/>
        </p:nvGraphicFramePr>
        <p:xfrm>
          <a:off x="3381632" y="3353605"/>
          <a:ext cx="5181600" cy="2431256"/>
        </p:xfrm>
        <a:graphic>
          <a:graphicData uri="http://schemas.openxmlformats.org/presentationml/2006/ole">
            <mc:AlternateContent xmlns:mc="http://schemas.openxmlformats.org/markup-compatibility/2006">
              <mc:Choice xmlns:v="urn:schemas-microsoft-com:vml" Requires="v">
                <p:oleObj name="CS ChemDraw Drawing" r:id="rId3" imgW="4606945" imgH="2160748" progId="ChemDraw.Document.6.0">
                  <p:embed/>
                </p:oleObj>
              </mc:Choice>
              <mc:Fallback>
                <p:oleObj name="CS ChemDraw Drawing" r:id="rId3" imgW="4606945" imgH="2160748" progId="ChemDraw.Document.6.0">
                  <p:embed/>
                  <p:pic>
                    <p:nvPicPr>
                      <p:cNvPr id="10" name="Object 9">
                        <a:extLst>
                          <a:ext uri="{FF2B5EF4-FFF2-40B4-BE49-F238E27FC236}">
                            <a16:creationId xmlns:a16="http://schemas.microsoft.com/office/drawing/2014/main" id="{F4DFF7EC-0E74-48FC-9DFD-BF63F692437D}"/>
                          </a:ext>
                        </a:extLst>
                      </p:cNvPr>
                      <p:cNvPicPr>
                        <a:picLocks noChangeAspect="1" noChangeArrowheads="1"/>
                      </p:cNvPicPr>
                      <p:nvPr/>
                    </p:nvPicPr>
                    <p:blipFill>
                      <a:blip r:embed="rId4"/>
                      <a:srcRect/>
                      <a:stretch>
                        <a:fillRect/>
                      </a:stretch>
                    </p:blipFill>
                    <p:spPr bwMode="auto">
                      <a:xfrm>
                        <a:off x="3381632" y="3353605"/>
                        <a:ext cx="5181600" cy="2431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2">
            <a:extLst>
              <a:ext uri="{FF2B5EF4-FFF2-40B4-BE49-F238E27FC236}">
                <a16:creationId xmlns:a16="http://schemas.microsoft.com/office/drawing/2014/main" id="{13F16ACD-B812-4490-9B90-8117A41889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00400" y="1398396"/>
            <a:ext cx="4286250" cy="1477328"/>
          </a:xfrm>
          <a:prstGeom prst="rect">
            <a:avLst/>
          </a:prstGeom>
        </p:spPr>
      </p:pic>
      <p:sp>
        <p:nvSpPr>
          <p:cNvPr id="5" name="Rectangle 4">
            <a:extLst>
              <a:ext uri="{FF2B5EF4-FFF2-40B4-BE49-F238E27FC236}">
                <a16:creationId xmlns:a16="http://schemas.microsoft.com/office/drawing/2014/main" id="{C5529753-178F-4049-9C93-08D405A07CFA}"/>
              </a:ext>
            </a:extLst>
          </p:cNvPr>
          <p:cNvSpPr/>
          <p:nvPr/>
        </p:nvSpPr>
        <p:spPr>
          <a:xfrm>
            <a:off x="544909" y="1905000"/>
            <a:ext cx="2186246" cy="3139321"/>
          </a:xfrm>
          <a:prstGeom prst="rect">
            <a:avLst/>
          </a:prstGeom>
        </p:spPr>
        <p:txBody>
          <a:bodyPr wrap="square">
            <a:spAutoFit/>
          </a:bodyPr>
          <a:lstStyle/>
          <a:p>
            <a:r>
              <a:rPr lang="en-SG" dirty="0"/>
              <a:t>Step 1: Phosphonium halide can be prepare from PR</a:t>
            </a:r>
            <a:r>
              <a:rPr lang="en-SG" baseline="-25000" dirty="0"/>
              <a:t>3</a:t>
            </a:r>
            <a:r>
              <a:rPr lang="en-SG" dirty="0"/>
              <a:t> and a primary or secondary halide (S</a:t>
            </a:r>
            <a:r>
              <a:rPr lang="en-SG" baseline="-25000" dirty="0"/>
              <a:t>N</a:t>
            </a:r>
            <a:r>
              <a:rPr lang="en-SG" dirty="0"/>
              <a:t>2 reaction)</a:t>
            </a:r>
          </a:p>
          <a:p>
            <a:r>
              <a:rPr lang="en-SG" dirty="0"/>
              <a:t>Step 2: Deprotonation of the C-H next to the phosphonium cation using a base. </a:t>
            </a:r>
          </a:p>
        </p:txBody>
      </p:sp>
      <p:sp>
        <p:nvSpPr>
          <p:cNvPr id="9" name="Rectangle 8">
            <a:extLst>
              <a:ext uri="{FF2B5EF4-FFF2-40B4-BE49-F238E27FC236}">
                <a16:creationId xmlns:a16="http://schemas.microsoft.com/office/drawing/2014/main" id="{220C96A2-7208-409D-8099-0AB275215CA9}"/>
              </a:ext>
            </a:extLst>
          </p:cNvPr>
          <p:cNvSpPr/>
          <p:nvPr/>
        </p:nvSpPr>
        <p:spPr>
          <a:xfrm>
            <a:off x="4648549" y="873930"/>
            <a:ext cx="3369705" cy="369332"/>
          </a:xfrm>
          <a:prstGeom prst="rect">
            <a:avLst/>
          </a:prstGeom>
        </p:spPr>
        <p:txBody>
          <a:bodyPr wrap="none">
            <a:spAutoFit/>
          </a:bodyPr>
          <a:lstStyle/>
          <a:p>
            <a:r>
              <a:rPr lang="en-US" dirty="0">
                <a:solidFill>
                  <a:srgbClr val="1F1F1F"/>
                </a:solidFill>
                <a:latin typeface="Google Sans"/>
              </a:rPr>
              <a:t>Ylides are  </a:t>
            </a:r>
            <a:r>
              <a:rPr lang="en-US" dirty="0">
                <a:solidFill>
                  <a:srgbClr val="040C28"/>
                </a:solidFill>
                <a:latin typeface="Google Sans"/>
              </a:rPr>
              <a:t>1,2-dipolar compounds</a:t>
            </a:r>
            <a:endParaRPr lang="en-US" dirty="0"/>
          </a:p>
        </p:txBody>
      </p:sp>
      <p:pic>
        <p:nvPicPr>
          <p:cNvPr id="80908" name="Picture 12" descr="Wittig reagent resonance structures">
            <a:extLst>
              <a:ext uri="{FF2B5EF4-FFF2-40B4-BE49-F238E27FC236}">
                <a16:creationId xmlns:a16="http://schemas.microsoft.com/office/drawing/2014/main" id="{3FC524C4-07C4-4C6E-B14A-F6E4A52799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109961"/>
            <a:ext cx="2420122" cy="82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886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3492436069"/>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2.2 The Wittig Reaction</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SG" sz="1800" kern="1200" dirty="0">
                          <a:solidFill>
                            <a:schemeClr val="tx1"/>
                          </a:solidFill>
                          <a:effectLst/>
                          <a:latin typeface="+mn-lt"/>
                          <a:ea typeface="+mn-ea"/>
                          <a:cs typeface="+mn-cs"/>
                        </a:rPr>
                        <a:t>Reaction between a carbonyl compound (aldehyde or ketone) and a phosphorous ylide (or </a:t>
                      </a:r>
                      <a:r>
                        <a:rPr lang="en-SG" sz="1800" kern="1200" dirty="0" err="1">
                          <a:solidFill>
                            <a:schemeClr val="tx1"/>
                          </a:solidFill>
                          <a:effectLst/>
                          <a:latin typeface="+mn-lt"/>
                          <a:ea typeface="+mn-ea"/>
                          <a:cs typeface="+mn-cs"/>
                        </a:rPr>
                        <a:t>phosphorane</a:t>
                      </a:r>
                      <a:r>
                        <a:rPr lang="en-SG" sz="1800" kern="1200" dirty="0">
                          <a:solidFill>
                            <a:schemeClr val="tx1"/>
                          </a:solidFill>
                          <a:effectLst/>
                          <a:latin typeface="+mn-lt"/>
                          <a:ea typeface="+mn-ea"/>
                          <a:cs typeface="+mn-cs"/>
                        </a:rPr>
                        <a:t>) to form a C=C double bond (alkene). </a:t>
                      </a: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800" dirty="0"/>
                        <a:t>The phosphorous ylides can be generated before the reaction or in situ</a:t>
                      </a:r>
                    </a:p>
                    <a:p>
                      <a:endParaRPr lang="en-SG"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27</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graphicFrame>
        <p:nvGraphicFramePr>
          <p:cNvPr id="5" name="Object 4">
            <a:extLst>
              <a:ext uri="{FF2B5EF4-FFF2-40B4-BE49-F238E27FC236}">
                <a16:creationId xmlns:a16="http://schemas.microsoft.com/office/drawing/2014/main" id="{CD477EC6-0BDA-4C4D-925D-67ECE6AC56F4}"/>
              </a:ext>
            </a:extLst>
          </p:cNvPr>
          <p:cNvGraphicFramePr>
            <a:graphicFrameLocks noChangeAspect="1"/>
          </p:cNvGraphicFramePr>
          <p:nvPr/>
        </p:nvGraphicFramePr>
        <p:xfrm>
          <a:off x="1385354" y="2373707"/>
          <a:ext cx="4664929" cy="1038624"/>
        </p:xfrm>
        <a:graphic>
          <a:graphicData uri="http://schemas.openxmlformats.org/presentationml/2006/ole">
            <mc:AlternateContent xmlns:mc="http://schemas.openxmlformats.org/markup-compatibility/2006">
              <mc:Choice xmlns:v="urn:schemas-microsoft-com:vml" Requires="v">
                <p:oleObj name="CS ChemDraw Drawing" r:id="rId3" imgW="4146603" imgH="923221" progId="ChemDraw.Document.6.0">
                  <p:embed/>
                </p:oleObj>
              </mc:Choice>
              <mc:Fallback>
                <p:oleObj name="CS ChemDraw Drawing" r:id="rId3" imgW="4146603" imgH="923221" progId="ChemDraw.Document.6.0">
                  <p:embed/>
                  <p:pic>
                    <p:nvPicPr>
                      <p:cNvPr id="5" name="Object 4">
                        <a:extLst>
                          <a:ext uri="{FF2B5EF4-FFF2-40B4-BE49-F238E27FC236}">
                            <a16:creationId xmlns:a16="http://schemas.microsoft.com/office/drawing/2014/main" id="{CD477EC6-0BDA-4C4D-925D-67ECE6AC56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354" y="2373707"/>
                        <a:ext cx="4664929" cy="10386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a:extLst>
              <a:ext uri="{FF2B5EF4-FFF2-40B4-BE49-F238E27FC236}">
                <a16:creationId xmlns:a16="http://schemas.microsoft.com/office/drawing/2014/main" id="{7CB2FDD2-152A-4A14-8E73-20C3F29E53BC}"/>
              </a:ext>
            </a:extLst>
          </p:cNvPr>
          <p:cNvSpPr/>
          <p:nvPr/>
        </p:nvSpPr>
        <p:spPr>
          <a:xfrm>
            <a:off x="558356" y="5105400"/>
            <a:ext cx="7801232" cy="749436"/>
          </a:xfrm>
          <a:prstGeom prst="rect">
            <a:avLst/>
          </a:prstGeom>
        </p:spPr>
        <p:txBody>
          <a:bodyPr wrap="square">
            <a:spAutoFit/>
          </a:bodyPr>
          <a:lstStyle/>
          <a:p>
            <a:pPr>
              <a:lnSpc>
                <a:spcPct val="107000"/>
              </a:lnSpc>
              <a:spcAft>
                <a:spcPts val="600"/>
              </a:spcAft>
            </a:pPr>
            <a:r>
              <a:rPr lang="en-SG" sz="1350" i="1" dirty="0">
                <a:latin typeface="Calibri" panose="020F0502020204030204" pitchFamily="34" charset="0"/>
                <a:ea typeface="Calibri" panose="020F0502020204030204" pitchFamily="34" charset="0"/>
                <a:cs typeface="Times New Roman" panose="02020603050405020304" pitchFamily="18" charset="0"/>
              </a:rPr>
              <a:t>Georg Wittig (1897-1987), was a German chemist. He shared the Nobel Prize in Chemistry with Herbert C. Brown in 1979. Since its discovery in 1950, Wittig reaction has become one the most important and most effective method for the synthesis of alkenes.  </a:t>
            </a:r>
          </a:p>
        </p:txBody>
      </p:sp>
    </p:spTree>
    <p:extLst>
      <p:ext uri="{BB962C8B-B14F-4D97-AF65-F5344CB8AC3E}">
        <p14:creationId xmlns:p14="http://schemas.microsoft.com/office/powerpoint/2010/main" val="4061780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Wittig Reaction</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SG" sz="1800" kern="1200" dirty="0">
                          <a:solidFill>
                            <a:schemeClr val="tx1"/>
                          </a:solidFill>
                          <a:effectLst/>
                          <a:latin typeface="+mn-lt"/>
                          <a:ea typeface="+mn-ea"/>
                          <a:cs typeface="+mn-cs"/>
                        </a:rPr>
                        <a:t>Examples: BASF’s preparation of vitamin A</a:t>
                      </a: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pic>
        <p:nvPicPr>
          <p:cNvPr id="9" name="Picture 8">
            <a:extLst>
              <a:ext uri="{FF2B5EF4-FFF2-40B4-BE49-F238E27FC236}">
                <a16:creationId xmlns:a16="http://schemas.microsoft.com/office/drawing/2014/main" id="{5880B7EF-A554-41A9-A348-1CAA8386A1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87713" y="2209800"/>
            <a:ext cx="4368573" cy="2833748"/>
          </a:xfrm>
          <a:prstGeom prst="rect">
            <a:avLst/>
          </a:prstGeom>
        </p:spPr>
      </p:pic>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28</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Tree>
    <p:extLst>
      <p:ext uri="{BB962C8B-B14F-4D97-AF65-F5344CB8AC3E}">
        <p14:creationId xmlns:p14="http://schemas.microsoft.com/office/powerpoint/2010/main" val="275631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Two types of ylides</a:t>
                      </a:r>
                      <a:endParaRPr lang="en-SG" sz="2400" b="1"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800" kern="1200" dirty="0">
                          <a:solidFill>
                            <a:schemeClr val="tx1"/>
                          </a:solidFill>
                          <a:effectLst/>
                          <a:latin typeface="+mn-lt"/>
                          <a:ea typeface="+mn-ea"/>
                          <a:cs typeface="+mn-cs"/>
                        </a:rPr>
                        <a:t>Those </a:t>
                      </a:r>
                      <a:r>
                        <a:rPr lang="en-SG" sz="1800" kern="1200" dirty="0">
                          <a:solidFill>
                            <a:srgbClr val="FF0000"/>
                          </a:solidFill>
                          <a:effectLst/>
                          <a:latin typeface="+mn-lt"/>
                          <a:ea typeface="+mn-ea"/>
                          <a:cs typeface="+mn-cs"/>
                        </a:rPr>
                        <a:t>with</a:t>
                      </a:r>
                      <a:r>
                        <a:rPr lang="en-SG" sz="1800" kern="1200" dirty="0">
                          <a:solidFill>
                            <a:schemeClr val="tx1"/>
                          </a:solidFill>
                          <a:effectLst/>
                          <a:latin typeface="+mn-lt"/>
                          <a:ea typeface="+mn-ea"/>
                          <a:cs typeface="+mn-cs"/>
                        </a:rPr>
                        <a:t> conjugating or anion stabilizing substituents adjacent to the negative charge (stabilized ylides)</a:t>
                      </a: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342900" indent="-342900">
                        <a:buFont typeface="Arial" panose="020B0604020202020204" pitchFamily="34" charset="0"/>
                        <a:buChar char="•"/>
                      </a:pPr>
                      <a:r>
                        <a:rPr lang="en-SG" sz="1800" kern="1200" dirty="0">
                          <a:solidFill>
                            <a:schemeClr val="tx1"/>
                          </a:solidFill>
                          <a:effectLst/>
                          <a:latin typeface="+mn-lt"/>
                          <a:ea typeface="+mn-ea"/>
                          <a:cs typeface="+mn-cs"/>
                        </a:rPr>
                        <a:t>Those </a:t>
                      </a:r>
                      <a:r>
                        <a:rPr lang="en-SG" sz="1800" kern="1200" dirty="0">
                          <a:solidFill>
                            <a:srgbClr val="FF0000"/>
                          </a:solidFill>
                          <a:effectLst/>
                          <a:latin typeface="+mn-lt"/>
                          <a:ea typeface="+mn-ea"/>
                          <a:cs typeface="+mn-cs"/>
                        </a:rPr>
                        <a:t>without</a:t>
                      </a:r>
                      <a:r>
                        <a:rPr lang="en-SG" sz="1800" kern="1200" dirty="0">
                          <a:solidFill>
                            <a:schemeClr val="tx1"/>
                          </a:solidFill>
                          <a:effectLst/>
                          <a:latin typeface="+mn-lt"/>
                          <a:ea typeface="+mn-ea"/>
                          <a:cs typeface="+mn-cs"/>
                        </a:rPr>
                        <a:t> conjugating or anion stabilizing substituents adjacent to the negative charge (</a:t>
                      </a:r>
                      <a:r>
                        <a:rPr lang="en-SG" sz="1800" kern="1200" dirty="0" err="1">
                          <a:solidFill>
                            <a:schemeClr val="tx1"/>
                          </a:solidFill>
                          <a:effectLst/>
                          <a:latin typeface="+mn-lt"/>
                          <a:ea typeface="+mn-ea"/>
                          <a:cs typeface="+mn-cs"/>
                        </a:rPr>
                        <a:t>unstabilized</a:t>
                      </a:r>
                      <a:r>
                        <a:rPr lang="en-SG" sz="1800" kern="1200" dirty="0">
                          <a:solidFill>
                            <a:schemeClr val="tx1"/>
                          </a:solidFill>
                          <a:effectLst/>
                          <a:latin typeface="+mn-lt"/>
                          <a:ea typeface="+mn-ea"/>
                          <a:cs typeface="+mn-cs"/>
                        </a:rPr>
                        <a:t> ylides).</a:t>
                      </a: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29</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1" name="Content Placeholder 7">
            <a:extLst>
              <a:ext uri="{FF2B5EF4-FFF2-40B4-BE49-F238E27FC236}">
                <a16:creationId xmlns:a16="http://schemas.microsoft.com/office/drawing/2014/main" id="{ABE6DDDA-8F00-4E1A-BC49-0088DEDC3E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218427" y="4198219"/>
            <a:ext cx="4848606" cy="8263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Content Placeholder 5">
            <a:extLst>
              <a:ext uri="{FF2B5EF4-FFF2-40B4-BE49-F238E27FC236}">
                <a16:creationId xmlns:a16="http://schemas.microsoft.com/office/drawing/2014/main" id="{3C613CB4-F7FF-4FE1-9D45-C7087A8890E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69348"/>
          <a:stretch/>
        </p:blipFill>
        <p:spPr bwMode="auto">
          <a:xfrm>
            <a:off x="7042161" y="4699396"/>
            <a:ext cx="1540669" cy="7167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graphicFrame>
        <p:nvGraphicFramePr>
          <p:cNvPr id="9" name="Object 8">
            <a:extLst>
              <a:ext uri="{FF2B5EF4-FFF2-40B4-BE49-F238E27FC236}">
                <a16:creationId xmlns:a16="http://schemas.microsoft.com/office/drawing/2014/main" id="{978E0FE4-D482-4A2B-9AA6-BB7D2602159C}"/>
              </a:ext>
            </a:extLst>
          </p:cNvPr>
          <p:cNvGraphicFramePr>
            <a:graphicFrameLocks noChangeAspect="1"/>
          </p:cNvGraphicFramePr>
          <p:nvPr/>
        </p:nvGraphicFramePr>
        <p:xfrm>
          <a:off x="1136784" y="2160666"/>
          <a:ext cx="4709772" cy="564032"/>
        </p:xfrm>
        <a:graphic>
          <a:graphicData uri="http://schemas.openxmlformats.org/presentationml/2006/ole">
            <mc:AlternateContent xmlns:mc="http://schemas.openxmlformats.org/markup-compatibility/2006">
              <mc:Choice xmlns:v="urn:schemas-microsoft-com:vml" Requires="v">
                <p:oleObj name="CS ChemDraw Drawing" r:id="rId5" imgW="4186464" imgH="501362" progId="ChemDraw.Document.6.0">
                  <p:embed/>
                </p:oleObj>
              </mc:Choice>
              <mc:Fallback>
                <p:oleObj name="CS ChemDraw Drawing" r:id="rId5" imgW="4186464" imgH="501362" progId="ChemDraw.Document.6.0">
                  <p:embed/>
                  <p:pic>
                    <p:nvPicPr>
                      <p:cNvPr id="9" name="Object 8">
                        <a:extLst>
                          <a:ext uri="{FF2B5EF4-FFF2-40B4-BE49-F238E27FC236}">
                            <a16:creationId xmlns:a16="http://schemas.microsoft.com/office/drawing/2014/main" id="{978E0FE4-D482-4A2B-9AA6-BB7D260215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6784" y="2160666"/>
                        <a:ext cx="4709772" cy="5640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Content Placeholder 5">
            <a:extLst>
              <a:ext uri="{FF2B5EF4-FFF2-40B4-BE49-F238E27FC236}">
                <a16:creationId xmlns:a16="http://schemas.microsoft.com/office/drawing/2014/main" id="{D5DE06E4-EBB4-45DD-8FB1-B84F5180F6B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45051"/>
          <a:stretch/>
        </p:blipFill>
        <p:spPr bwMode="auto">
          <a:xfrm>
            <a:off x="7236882" y="1800227"/>
            <a:ext cx="1540669" cy="128490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3890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2735058135"/>
              </p:ext>
            </p:extLst>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2.3 Stereoselectivity</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SG" sz="1800" kern="1200" dirty="0">
                          <a:solidFill>
                            <a:schemeClr val="tx1"/>
                          </a:solidFill>
                          <a:effectLst/>
                          <a:latin typeface="+mn-lt"/>
                          <a:ea typeface="+mn-ea"/>
                          <a:cs typeface="+mn-cs"/>
                        </a:rPr>
                        <a:t>The general rules for stereochemistry of the Wittig reaction:</a:t>
                      </a:r>
                    </a:p>
                    <a:p>
                      <a:pPr marL="342900" lvl="0" indent="-342900">
                        <a:buFont typeface="Arial" panose="020B0604020202020204" pitchFamily="34" charset="0"/>
                        <a:buChar char="•"/>
                      </a:pPr>
                      <a:r>
                        <a:rPr lang="en-SG" sz="1800" kern="1200" dirty="0">
                          <a:solidFill>
                            <a:schemeClr val="tx1"/>
                          </a:solidFill>
                          <a:effectLst/>
                          <a:latin typeface="+mn-lt"/>
                          <a:ea typeface="+mn-ea"/>
                          <a:cs typeface="+mn-cs"/>
                        </a:rPr>
                        <a:t>With </a:t>
                      </a:r>
                      <a:r>
                        <a:rPr lang="en-SG" sz="1800" kern="1200" dirty="0">
                          <a:solidFill>
                            <a:srgbClr val="FF0000"/>
                          </a:solidFill>
                          <a:effectLst/>
                          <a:latin typeface="+mn-lt"/>
                          <a:ea typeface="+mn-ea"/>
                          <a:cs typeface="+mn-cs"/>
                        </a:rPr>
                        <a:t>stabilized ylides</a:t>
                      </a:r>
                      <a:r>
                        <a:rPr lang="en-SG" sz="1800" kern="1200" dirty="0">
                          <a:solidFill>
                            <a:schemeClr val="tx1"/>
                          </a:solidFill>
                          <a:effectLst/>
                          <a:latin typeface="+mn-lt"/>
                          <a:ea typeface="+mn-ea"/>
                          <a:cs typeface="+mn-cs"/>
                        </a:rPr>
                        <a:t>, the Wittig reaction is </a:t>
                      </a:r>
                      <a:r>
                        <a:rPr lang="en-SG" sz="1800" i="1" kern="1200" dirty="0">
                          <a:solidFill>
                            <a:srgbClr val="FF0000"/>
                          </a:solidFill>
                          <a:effectLst/>
                          <a:latin typeface="+mn-lt"/>
                          <a:ea typeface="+mn-ea"/>
                          <a:cs typeface="+mn-cs"/>
                        </a:rPr>
                        <a:t>E</a:t>
                      </a:r>
                      <a:r>
                        <a:rPr lang="en-SG" sz="1800" kern="1200" dirty="0">
                          <a:solidFill>
                            <a:srgbClr val="FF0000"/>
                          </a:solidFill>
                          <a:effectLst/>
                          <a:latin typeface="+mn-lt"/>
                          <a:ea typeface="+mn-ea"/>
                          <a:cs typeface="+mn-cs"/>
                        </a:rPr>
                        <a:t>-selective</a:t>
                      </a:r>
                    </a:p>
                    <a:p>
                      <a:pPr marL="0" indent="0">
                        <a:buFontTx/>
                        <a:buNone/>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30</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0" name="Content Placeholder 7">
            <a:extLst>
              <a:ext uri="{FF2B5EF4-FFF2-40B4-BE49-F238E27FC236}">
                <a16:creationId xmlns:a16="http://schemas.microsoft.com/office/drawing/2014/main" id="{2C72A5D4-FF17-4F37-98D9-191362FD1C9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2060"/>
          <a:stretch/>
        </p:blipFill>
        <p:spPr bwMode="auto">
          <a:xfrm>
            <a:off x="1282623" y="4026803"/>
            <a:ext cx="4788131" cy="8204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6F42A4A7-AF57-460C-AFD7-6771A796A242}"/>
              </a:ext>
            </a:extLst>
          </p:cNvPr>
          <p:cNvSpPr/>
          <p:nvPr/>
        </p:nvSpPr>
        <p:spPr>
          <a:xfrm>
            <a:off x="1133744" y="3988285"/>
            <a:ext cx="1013444" cy="913424"/>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a:p>
        </p:txBody>
      </p:sp>
      <p:pic>
        <p:nvPicPr>
          <p:cNvPr id="9" name="Content Placeholder 7">
            <a:extLst>
              <a:ext uri="{FF2B5EF4-FFF2-40B4-BE49-F238E27FC236}">
                <a16:creationId xmlns:a16="http://schemas.microsoft.com/office/drawing/2014/main" id="{462BE437-A49F-DD0D-D83E-A1174D47400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637" b="26890"/>
          <a:stretch/>
        </p:blipFill>
        <p:spPr bwMode="auto">
          <a:xfrm>
            <a:off x="1282623" y="2495699"/>
            <a:ext cx="4788131" cy="74803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44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Stereoselectivity</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SG" sz="1800" kern="1200" dirty="0">
                          <a:solidFill>
                            <a:schemeClr val="tx1"/>
                          </a:solidFill>
                          <a:effectLst/>
                          <a:latin typeface="+mn-lt"/>
                          <a:ea typeface="+mn-ea"/>
                          <a:cs typeface="+mn-cs"/>
                        </a:rPr>
                        <a:t>The general rules for stereochemistry of the Wittig reaction:</a:t>
                      </a:r>
                    </a:p>
                    <a:p>
                      <a:pPr marL="342900" lvl="0" indent="-342900">
                        <a:buFont typeface="Arial" panose="020B0604020202020204" pitchFamily="34" charset="0"/>
                        <a:buChar char="•"/>
                      </a:pPr>
                      <a:r>
                        <a:rPr lang="en-SG" sz="1800" kern="1200" dirty="0">
                          <a:solidFill>
                            <a:schemeClr val="tx1"/>
                          </a:solidFill>
                          <a:effectLst/>
                          <a:latin typeface="+mn-lt"/>
                          <a:ea typeface="+mn-ea"/>
                          <a:cs typeface="+mn-cs"/>
                        </a:rPr>
                        <a:t>With </a:t>
                      </a:r>
                      <a:r>
                        <a:rPr lang="en-SG" sz="1800" kern="1200" dirty="0" err="1">
                          <a:solidFill>
                            <a:srgbClr val="FF0000"/>
                          </a:solidFill>
                          <a:effectLst/>
                          <a:latin typeface="+mn-lt"/>
                          <a:ea typeface="+mn-ea"/>
                          <a:cs typeface="+mn-cs"/>
                        </a:rPr>
                        <a:t>unstabilized</a:t>
                      </a:r>
                      <a:r>
                        <a:rPr lang="en-SG" sz="1800" kern="1200" dirty="0">
                          <a:solidFill>
                            <a:srgbClr val="FF0000"/>
                          </a:solidFill>
                          <a:effectLst/>
                          <a:latin typeface="+mn-lt"/>
                          <a:ea typeface="+mn-ea"/>
                          <a:cs typeface="+mn-cs"/>
                        </a:rPr>
                        <a:t> ylides</a:t>
                      </a:r>
                      <a:r>
                        <a:rPr lang="en-SG" sz="1800" kern="1200" dirty="0">
                          <a:solidFill>
                            <a:schemeClr val="tx1"/>
                          </a:solidFill>
                          <a:effectLst/>
                          <a:latin typeface="+mn-lt"/>
                          <a:ea typeface="+mn-ea"/>
                          <a:cs typeface="+mn-cs"/>
                        </a:rPr>
                        <a:t>, the Wittig reaction is </a:t>
                      </a:r>
                      <a:r>
                        <a:rPr lang="en-SG" sz="1800" i="1" kern="1200" dirty="0">
                          <a:solidFill>
                            <a:srgbClr val="FF0000"/>
                          </a:solidFill>
                          <a:effectLst/>
                          <a:latin typeface="+mn-lt"/>
                          <a:ea typeface="+mn-ea"/>
                          <a:cs typeface="+mn-cs"/>
                        </a:rPr>
                        <a:t>Z</a:t>
                      </a:r>
                      <a:r>
                        <a:rPr lang="en-SG" sz="1800" kern="1200" dirty="0">
                          <a:solidFill>
                            <a:srgbClr val="FF0000"/>
                          </a:solidFill>
                          <a:effectLst/>
                          <a:latin typeface="+mn-lt"/>
                          <a:ea typeface="+mn-ea"/>
                          <a:cs typeface="+mn-cs"/>
                        </a:rPr>
                        <a:t>-selective </a:t>
                      </a:r>
                    </a:p>
                    <a:p>
                      <a:pPr marL="0" indent="0">
                        <a:buFontTx/>
                        <a:buNone/>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31</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8" name="Content Placeholder 7">
            <a:extLst>
              <a:ext uri="{FF2B5EF4-FFF2-40B4-BE49-F238E27FC236}">
                <a16:creationId xmlns:a16="http://schemas.microsoft.com/office/drawing/2014/main" id="{C11C5079-1B75-4F0B-A2E6-687A9E2605E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84152"/>
          <a:stretch/>
        </p:blipFill>
        <p:spPr bwMode="auto">
          <a:xfrm>
            <a:off x="1077259" y="2497521"/>
            <a:ext cx="4788131" cy="46538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Content Placeholder 7">
            <a:extLst>
              <a:ext uri="{FF2B5EF4-FFF2-40B4-BE49-F238E27FC236}">
                <a16:creationId xmlns:a16="http://schemas.microsoft.com/office/drawing/2014/main" id="{C9ED9A5D-F203-74AE-A66E-96FFC037060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4141" b="50168"/>
          <a:stretch/>
        </p:blipFill>
        <p:spPr bwMode="auto">
          <a:xfrm>
            <a:off x="1104196" y="3693969"/>
            <a:ext cx="4788131" cy="104803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253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89058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Practice questions </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32</a:t>
            </a:fld>
            <a:endParaRPr lang="en-US"/>
          </a:p>
        </p:txBody>
      </p:sp>
      <p:sp>
        <p:nvSpPr>
          <p:cNvPr id="2" name="Rectangle 2">
            <a:extLst>
              <a:ext uri="{FF2B5EF4-FFF2-40B4-BE49-F238E27FC236}">
                <a16:creationId xmlns:a16="http://schemas.microsoft.com/office/drawing/2014/main" id="{D9B1CC7B-3680-4D8E-B74F-98D006EC6B02}"/>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4" name="Rectangle 2">
            <a:extLst>
              <a:ext uri="{FF2B5EF4-FFF2-40B4-BE49-F238E27FC236}">
                <a16:creationId xmlns:a16="http://schemas.microsoft.com/office/drawing/2014/main" id="{9CC252BD-CAFC-4083-90E9-271E61A44A7B}"/>
              </a:ext>
            </a:extLst>
          </p:cNvPr>
          <p:cNvSpPr>
            <a:spLocks noChangeArrowheads="1"/>
          </p:cNvSpPr>
          <p:nvPr/>
        </p:nvSpPr>
        <p:spPr bwMode="auto">
          <a:xfrm>
            <a:off x="1229097" y="239384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1" name="Picture 10">
            <a:extLst>
              <a:ext uri="{FF2B5EF4-FFF2-40B4-BE49-F238E27FC236}">
                <a16:creationId xmlns:a16="http://schemas.microsoft.com/office/drawing/2014/main" id="{E78DB564-175B-4B71-AFDB-85565340CA0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8261" b="-52"/>
          <a:stretch/>
        </p:blipFill>
        <p:spPr>
          <a:xfrm>
            <a:off x="914399" y="2393848"/>
            <a:ext cx="2015565" cy="2863316"/>
          </a:xfrm>
          <a:prstGeom prst="rect">
            <a:avLst/>
          </a:prstGeom>
        </p:spPr>
      </p:pic>
      <p:sp>
        <p:nvSpPr>
          <p:cNvPr id="3" name="Arrow: Down 2">
            <a:extLst>
              <a:ext uri="{FF2B5EF4-FFF2-40B4-BE49-F238E27FC236}">
                <a16:creationId xmlns:a16="http://schemas.microsoft.com/office/drawing/2014/main" id="{3673AC77-29EF-4CAA-8142-967A1BFDB4CA}"/>
              </a:ext>
            </a:extLst>
          </p:cNvPr>
          <p:cNvSpPr/>
          <p:nvPr/>
        </p:nvSpPr>
        <p:spPr>
          <a:xfrm>
            <a:off x="1577492" y="2620601"/>
            <a:ext cx="228600" cy="276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72F6A41F-BC46-4E00-BDB6-C19540CB5FCF}"/>
              </a:ext>
            </a:extLst>
          </p:cNvPr>
          <p:cNvSpPr/>
          <p:nvPr/>
        </p:nvSpPr>
        <p:spPr>
          <a:xfrm>
            <a:off x="1752600" y="3541556"/>
            <a:ext cx="228600" cy="276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7A94AFD-46B2-477C-BFB1-0EC76898F114}"/>
              </a:ext>
            </a:extLst>
          </p:cNvPr>
          <p:cNvSpPr/>
          <p:nvPr/>
        </p:nvSpPr>
        <p:spPr>
          <a:xfrm>
            <a:off x="762000" y="1537599"/>
            <a:ext cx="7895046" cy="369332"/>
          </a:xfrm>
          <a:prstGeom prst="rect">
            <a:avLst/>
          </a:prstGeom>
        </p:spPr>
        <p:txBody>
          <a:bodyPr wrap="none">
            <a:spAutoFit/>
          </a:bodyPr>
          <a:lstStyle/>
          <a:p>
            <a:r>
              <a:rPr lang="en-US" dirty="0"/>
              <a:t>Propose the substrates for the following target molecules through Wittig reactions </a:t>
            </a:r>
          </a:p>
        </p:txBody>
      </p:sp>
    </p:spTree>
    <p:extLst>
      <p:ext uri="{BB962C8B-B14F-4D97-AF65-F5344CB8AC3E}">
        <p14:creationId xmlns:p14="http://schemas.microsoft.com/office/powerpoint/2010/main" val="1320549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901058"/>
          <a:ext cx="8201468" cy="4821806"/>
        </p:xfrm>
        <a:graphic>
          <a:graphicData uri="http://schemas.openxmlformats.org/drawingml/2006/table">
            <a:tbl>
              <a:tblPr firstRow="1" bandRow="1">
                <a:tableStyleId>{2D5ABB26-0587-4C30-8999-92F81FD0307C}</a:tableStyleId>
              </a:tblPr>
              <a:tblGrid>
                <a:gridCol w="8201468">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2.4 Mechanism</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342900" indent="-342900">
                        <a:buFontTx/>
                        <a:buChar char="-"/>
                      </a:pPr>
                      <a:r>
                        <a:rPr lang="en-US" sz="1800" kern="1200" dirty="0">
                          <a:solidFill>
                            <a:schemeClr val="tx1"/>
                          </a:solidFill>
                          <a:effectLst/>
                          <a:latin typeface="+mn-lt"/>
                          <a:ea typeface="+mn-ea"/>
                          <a:cs typeface="+mn-cs"/>
                        </a:rPr>
                        <a:t>Ylides are nucleophilic</a:t>
                      </a:r>
                    </a:p>
                    <a:p>
                      <a:pPr marL="342900" indent="-342900">
                        <a:buFontTx/>
                        <a:buChar char="-"/>
                      </a:pPr>
                      <a:r>
                        <a:rPr lang="en-US" sz="1800" kern="1200" dirty="0">
                          <a:solidFill>
                            <a:schemeClr val="tx1"/>
                          </a:solidFill>
                          <a:effectLst/>
                          <a:latin typeface="+mn-lt"/>
                          <a:ea typeface="+mn-ea"/>
                          <a:cs typeface="+mn-cs"/>
                        </a:rPr>
                        <a:t>Formation of </a:t>
                      </a:r>
                      <a:r>
                        <a:rPr lang="en-US" sz="1800" kern="1200" dirty="0" err="1">
                          <a:solidFill>
                            <a:schemeClr val="tx1"/>
                          </a:solidFill>
                          <a:effectLst/>
                          <a:latin typeface="+mn-lt"/>
                          <a:ea typeface="+mn-ea"/>
                          <a:cs typeface="+mn-cs"/>
                        </a:rPr>
                        <a:t>oxaphosphetane</a:t>
                      </a:r>
                      <a:r>
                        <a:rPr lang="en-US" sz="1800" kern="1200" dirty="0">
                          <a:solidFill>
                            <a:schemeClr val="tx1"/>
                          </a:solidFill>
                          <a:effectLst/>
                          <a:latin typeface="+mn-lt"/>
                          <a:ea typeface="+mn-ea"/>
                          <a:cs typeface="+mn-cs"/>
                        </a:rPr>
                        <a:t> intermediate – which undergoes elimination to give alkene and phosphine oxide as a by-product. </a:t>
                      </a: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endParaRPr lang="en-US" sz="1800" kern="1200" dirty="0">
                        <a:solidFill>
                          <a:schemeClr val="tx1"/>
                        </a:solidFill>
                        <a:effectLst/>
                        <a:latin typeface="+mn-lt"/>
                        <a:ea typeface="+mn-ea"/>
                        <a:cs typeface="+mn-cs"/>
                      </a:endParaRPr>
                    </a:p>
                    <a:p>
                      <a:pPr marL="342900" indent="-342900">
                        <a:buFontTx/>
                        <a:buChar char="-"/>
                      </a:pPr>
                      <a:r>
                        <a:rPr lang="en-US" sz="1800" kern="1200" dirty="0">
                          <a:solidFill>
                            <a:schemeClr val="tx1"/>
                          </a:solidFill>
                          <a:effectLst/>
                          <a:latin typeface="+mn-lt"/>
                          <a:ea typeface="+mn-ea"/>
                          <a:cs typeface="+mn-cs"/>
                        </a:rPr>
                        <a:t>The P=O double bond is extremely strong, and it drives the reaction forward</a:t>
                      </a:r>
                    </a:p>
                    <a:p>
                      <a:endParaRPr lang="en-US" sz="1800" kern="1200" dirty="0">
                        <a:solidFill>
                          <a:schemeClr val="tx1"/>
                        </a:solidFill>
                        <a:effectLst/>
                        <a:latin typeface="+mn-lt"/>
                        <a:ea typeface="+mn-ea"/>
                        <a:cs typeface="+mn-cs"/>
                      </a:endParaRPr>
                    </a:p>
                    <a:p>
                      <a:endParaRPr lang="en-US"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33</a:t>
            </a:fld>
            <a:endParaRPr lang="en-US"/>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0" name="Content Placeholder 7">
            <a:extLst>
              <a:ext uri="{FF2B5EF4-FFF2-40B4-BE49-F238E27FC236}">
                <a16:creationId xmlns:a16="http://schemas.microsoft.com/office/drawing/2014/main" id="{0CE6DC7C-ECBC-4BD2-9A57-5A0481722BC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472832" y="2685220"/>
            <a:ext cx="5353355" cy="10204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8279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690664" y="901058"/>
          <a:ext cx="8061524" cy="4821806"/>
        </p:xfrm>
        <a:graphic>
          <a:graphicData uri="http://schemas.openxmlformats.org/drawingml/2006/table">
            <a:tbl>
              <a:tblPr firstRow="1" bandRow="1">
                <a:tableStyleId>{2D5ABB26-0587-4C30-8999-92F81FD0307C}</a:tableStyleId>
              </a:tblPr>
              <a:tblGrid>
                <a:gridCol w="8061524">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Stereochemistry</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US" sz="1800" kern="1200" dirty="0">
                          <a:solidFill>
                            <a:schemeClr val="tx1"/>
                          </a:solidFill>
                          <a:effectLst/>
                          <a:latin typeface="+mn-lt"/>
                          <a:ea typeface="+mn-ea"/>
                          <a:cs typeface="+mn-cs"/>
                        </a:rPr>
                        <a:t>Not entirely clear, but a possible explanation:  </a:t>
                      </a:r>
                    </a:p>
                    <a:p>
                      <a:endParaRPr lang="en-US"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34</a:t>
            </a:fld>
            <a:endParaRPr lang="en-US"/>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4" name="Rectangle 2">
            <a:extLst>
              <a:ext uri="{FF2B5EF4-FFF2-40B4-BE49-F238E27FC236}">
                <a16:creationId xmlns:a16="http://schemas.microsoft.com/office/drawing/2014/main" id="{9CC252BD-CAFC-4083-90E9-271E61A44A7B}"/>
              </a:ext>
            </a:extLst>
          </p:cNvPr>
          <p:cNvSpPr>
            <a:spLocks noChangeArrowheads="1"/>
          </p:cNvSpPr>
          <p:nvPr/>
        </p:nvSpPr>
        <p:spPr bwMode="auto">
          <a:xfrm>
            <a:off x="1229097" y="239384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1" name="Content Placeholder 7">
            <a:extLst>
              <a:ext uri="{FF2B5EF4-FFF2-40B4-BE49-F238E27FC236}">
                <a16:creationId xmlns:a16="http://schemas.microsoft.com/office/drawing/2014/main" id="{F6058FCB-1BCD-4170-883B-D9965FB1708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148861" y="3951031"/>
            <a:ext cx="5624932" cy="126735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Content Placeholder 7">
            <a:extLst>
              <a:ext uri="{FF2B5EF4-FFF2-40B4-BE49-F238E27FC236}">
                <a16:creationId xmlns:a16="http://schemas.microsoft.com/office/drawing/2014/main" id="{197321C0-E557-4ABF-997C-CF1B874411C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8861" y="2381382"/>
            <a:ext cx="5958230" cy="78592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D0B95996-5678-4F9D-A8BA-D22912C35041}"/>
              </a:ext>
            </a:extLst>
          </p:cNvPr>
          <p:cNvSpPr/>
          <p:nvPr/>
        </p:nvSpPr>
        <p:spPr>
          <a:xfrm>
            <a:off x="486457" y="1839155"/>
            <a:ext cx="1198854" cy="369332"/>
          </a:xfrm>
          <a:prstGeom prst="rect">
            <a:avLst/>
          </a:prstGeom>
        </p:spPr>
        <p:txBody>
          <a:bodyPr wrap="none">
            <a:spAutoFit/>
          </a:bodyPr>
          <a:lstStyle/>
          <a:p>
            <a:r>
              <a:rPr lang="en-US" b="1" dirty="0"/>
              <a:t>Z-selective</a:t>
            </a:r>
            <a:endParaRPr lang="en-SG" dirty="0"/>
          </a:p>
        </p:txBody>
      </p:sp>
    </p:spTree>
    <p:extLst>
      <p:ext uri="{BB962C8B-B14F-4D97-AF65-F5344CB8AC3E}">
        <p14:creationId xmlns:p14="http://schemas.microsoft.com/office/powerpoint/2010/main" val="2674139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DD12E-FDFA-EAAE-D9E9-8F20276227BA}"/>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FCCE440-EE51-18E1-17B6-186887AF02F5}"/>
              </a:ext>
            </a:extLst>
          </p:cNvPr>
          <p:cNvGraphicFramePr>
            <a:graphicFrameLocks noGrp="1"/>
          </p:cNvGraphicFramePr>
          <p:nvPr/>
        </p:nvGraphicFramePr>
        <p:xfrm>
          <a:off x="690664" y="901058"/>
          <a:ext cx="8061524" cy="4821806"/>
        </p:xfrm>
        <a:graphic>
          <a:graphicData uri="http://schemas.openxmlformats.org/drawingml/2006/table">
            <a:tbl>
              <a:tblPr firstRow="1" bandRow="1">
                <a:tableStyleId>{2D5ABB26-0587-4C30-8999-92F81FD0307C}</a:tableStyleId>
              </a:tblPr>
              <a:tblGrid>
                <a:gridCol w="8061524">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Stereochemistry</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US" sz="1800" kern="1200" dirty="0">
                          <a:solidFill>
                            <a:schemeClr val="tx1"/>
                          </a:solidFill>
                          <a:effectLst/>
                          <a:latin typeface="+mn-lt"/>
                          <a:ea typeface="+mn-ea"/>
                          <a:cs typeface="+mn-cs"/>
                        </a:rPr>
                        <a:t>Not entirely clear, but a possible explanation:  </a:t>
                      </a:r>
                    </a:p>
                    <a:p>
                      <a:endParaRPr lang="en-US"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40BF1943-86EE-7779-7F4E-DE620DC811E3}"/>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a:extLst>
              <a:ext uri="{FF2B5EF4-FFF2-40B4-BE49-F238E27FC236}">
                <a16:creationId xmlns:a16="http://schemas.microsoft.com/office/drawing/2014/main" id="{87A5D90C-EB48-784F-E433-387E423895C3}"/>
              </a:ext>
            </a:extLst>
          </p:cNvPr>
          <p:cNvSpPr>
            <a:spLocks noGrp="1"/>
          </p:cNvSpPr>
          <p:nvPr>
            <p:ph type="sldNum" sz="quarter" idx="12"/>
          </p:nvPr>
        </p:nvSpPr>
        <p:spPr/>
        <p:txBody>
          <a:bodyPr/>
          <a:lstStyle/>
          <a:p>
            <a:fld id="{8FF8FCDB-0CA2-4141-8C79-67CC4C2E3E65}" type="slidenum">
              <a:rPr lang="en-US" smtClean="0"/>
              <a:t>35</a:t>
            </a:fld>
            <a:endParaRPr lang="en-US"/>
          </a:p>
        </p:txBody>
      </p:sp>
      <p:sp>
        <p:nvSpPr>
          <p:cNvPr id="8" name="Rectangle 2">
            <a:extLst>
              <a:ext uri="{FF2B5EF4-FFF2-40B4-BE49-F238E27FC236}">
                <a16:creationId xmlns:a16="http://schemas.microsoft.com/office/drawing/2014/main" id="{70D934CA-5FE1-97D2-DDEB-BA2D750CB91B}"/>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43870171-3C6D-41D5-F04C-38CC9497E4F6}"/>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4" name="Rectangle 2">
            <a:extLst>
              <a:ext uri="{FF2B5EF4-FFF2-40B4-BE49-F238E27FC236}">
                <a16:creationId xmlns:a16="http://schemas.microsoft.com/office/drawing/2014/main" id="{81886FC1-E028-239F-49DF-2539973E4E1E}"/>
              </a:ext>
            </a:extLst>
          </p:cNvPr>
          <p:cNvSpPr>
            <a:spLocks noChangeArrowheads="1"/>
          </p:cNvSpPr>
          <p:nvPr/>
        </p:nvSpPr>
        <p:spPr bwMode="auto">
          <a:xfrm>
            <a:off x="1229097" y="239384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1" name="Content Placeholder 7">
            <a:extLst>
              <a:ext uri="{FF2B5EF4-FFF2-40B4-BE49-F238E27FC236}">
                <a16:creationId xmlns:a16="http://schemas.microsoft.com/office/drawing/2014/main" id="{2AA4F27E-517C-2B34-0BD2-4F22F8934F4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148861" y="3951031"/>
            <a:ext cx="5624932" cy="126735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Content Placeholder 7">
            <a:extLst>
              <a:ext uri="{FF2B5EF4-FFF2-40B4-BE49-F238E27FC236}">
                <a16:creationId xmlns:a16="http://schemas.microsoft.com/office/drawing/2014/main" id="{B43948D1-CC25-AFBB-4F8A-A910C721853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8861" y="2381382"/>
            <a:ext cx="5958230" cy="78592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0E32ABA7-DA75-B9A8-4755-0E8821B2871A}"/>
              </a:ext>
            </a:extLst>
          </p:cNvPr>
          <p:cNvSpPr/>
          <p:nvPr/>
        </p:nvSpPr>
        <p:spPr>
          <a:xfrm>
            <a:off x="486457" y="1839155"/>
            <a:ext cx="1198854" cy="369332"/>
          </a:xfrm>
          <a:prstGeom prst="rect">
            <a:avLst/>
          </a:prstGeom>
        </p:spPr>
        <p:txBody>
          <a:bodyPr wrap="none">
            <a:spAutoFit/>
          </a:bodyPr>
          <a:lstStyle/>
          <a:p>
            <a:r>
              <a:rPr lang="en-US" b="1" dirty="0"/>
              <a:t>Z-selective</a:t>
            </a:r>
            <a:endParaRPr lang="en-SG" dirty="0"/>
          </a:p>
        </p:txBody>
      </p:sp>
    </p:spTree>
    <p:extLst>
      <p:ext uri="{BB962C8B-B14F-4D97-AF65-F5344CB8AC3E}">
        <p14:creationId xmlns:p14="http://schemas.microsoft.com/office/powerpoint/2010/main" val="1435303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extLst>
              <p:ext uri="{D42A27DB-BD31-4B8C-83A1-F6EECF244321}">
                <p14:modId xmlns:p14="http://schemas.microsoft.com/office/powerpoint/2010/main" val="3279923530"/>
              </p:ext>
            </p:extLst>
          </p:nvPr>
        </p:nvGraphicFramePr>
        <p:xfrm>
          <a:off x="580768" y="90105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2.5 Horner-Wadsworth-Emmons (HWE) reactions </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r>
                        <a:rPr lang="en-US" sz="1800" dirty="0"/>
                        <a:t>1953: Wittig reported olefin synthesis using phosphonium ylides. </a:t>
                      </a:r>
                    </a:p>
                    <a:p>
                      <a:r>
                        <a:rPr lang="en-US" sz="1800" dirty="0"/>
                        <a:t>1958: Horner disclosed a modified Wittig reaction employing </a:t>
                      </a:r>
                      <a:r>
                        <a:rPr lang="en-US" sz="1800" dirty="0">
                          <a:solidFill>
                            <a:srgbClr val="FF0000"/>
                          </a:solidFill>
                        </a:rPr>
                        <a:t>phosphonate-stabilized carbanion</a:t>
                      </a:r>
                      <a:r>
                        <a:rPr lang="en-US" sz="1800" dirty="0"/>
                        <a:t>. The scope of the reaction was further defined by Wadsworth and Emmons. </a:t>
                      </a:r>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Product: High </a:t>
                      </a:r>
                      <a:r>
                        <a:rPr lang="en-US" sz="1800" i="1" dirty="0"/>
                        <a:t>E</a:t>
                      </a:r>
                      <a:r>
                        <a:rPr lang="en-US" sz="1800" dirty="0"/>
                        <a:t> selectivity for disubstituted alkenes</a:t>
                      </a:r>
                    </a:p>
                    <a:p>
                      <a:endParaRPr lang="en-US" sz="1800" kern="1200" dirty="0">
                        <a:solidFill>
                          <a:schemeClr val="tx1"/>
                        </a:solidFill>
                        <a:effectLst/>
                        <a:latin typeface="+mn-lt"/>
                        <a:ea typeface="+mn-ea"/>
                        <a:cs typeface="+mn-cs"/>
                      </a:endParaRPr>
                    </a:p>
                    <a:p>
                      <a:pPr marL="342900" indent="-342900">
                        <a:buFontTx/>
                        <a:buChar char="-"/>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36</a:t>
            </a:fld>
            <a:endParaRPr lang="en-US"/>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14" name="Rectangle 2">
            <a:extLst>
              <a:ext uri="{FF2B5EF4-FFF2-40B4-BE49-F238E27FC236}">
                <a16:creationId xmlns:a16="http://schemas.microsoft.com/office/drawing/2014/main" id="{9CC252BD-CAFC-4083-90E9-271E61A44A7B}"/>
              </a:ext>
            </a:extLst>
          </p:cNvPr>
          <p:cNvSpPr>
            <a:spLocks noChangeArrowheads="1"/>
          </p:cNvSpPr>
          <p:nvPr/>
        </p:nvSpPr>
        <p:spPr bwMode="auto">
          <a:xfrm>
            <a:off x="1229097" y="239384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8" name="Content Placeholder 7">
            <a:extLst>
              <a:ext uri="{FF2B5EF4-FFF2-40B4-BE49-F238E27FC236}">
                <a16:creationId xmlns:a16="http://schemas.microsoft.com/office/drawing/2014/main" id="{7B065E1C-7981-470A-B621-2B4EC60CCA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394468" y="2612156"/>
            <a:ext cx="5140071" cy="6995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Content Placeholder 7">
            <a:extLst>
              <a:ext uri="{FF2B5EF4-FFF2-40B4-BE49-F238E27FC236}">
                <a16:creationId xmlns:a16="http://schemas.microsoft.com/office/drawing/2014/main" id="{A378C30F-29B1-40DC-9872-6E7B1BCFDE7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75924" y="4545676"/>
            <a:ext cx="3953637" cy="50063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782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6C1EAD1-B690-46AA-90C8-6A3B07601E37}"/>
              </a:ext>
            </a:extLst>
          </p:cNvPr>
          <p:cNvGraphicFramePr>
            <a:graphicFrameLocks noGrp="1"/>
          </p:cNvGraphicFramePr>
          <p:nvPr/>
        </p:nvGraphicFramePr>
        <p:xfrm>
          <a:off x="580768" y="901058"/>
          <a:ext cx="8171420" cy="4821806"/>
        </p:xfrm>
        <a:graphic>
          <a:graphicData uri="http://schemas.openxmlformats.org/drawingml/2006/table">
            <a:tbl>
              <a:tblPr firstRow="1" bandRow="1">
                <a:tableStyleId>{2D5ABB26-0587-4C30-8999-92F81FD0307C}</a:tableStyleId>
              </a:tblPr>
              <a:tblGrid>
                <a:gridCol w="8171420">
                  <a:extLst>
                    <a:ext uri="{9D8B030D-6E8A-4147-A177-3AD203B41FA5}">
                      <a16:colId xmlns:a16="http://schemas.microsoft.com/office/drawing/2014/main" val="2283346525"/>
                    </a:ext>
                  </a:extLst>
                </a:gridCol>
              </a:tblGrid>
              <a:tr h="434340">
                <a:tc>
                  <a:txBody>
                    <a:bodyPr/>
                    <a:lstStyle/>
                    <a:p>
                      <a:r>
                        <a:rPr lang="en-US" sz="2400" b="1" dirty="0">
                          <a:solidFill>
                            <a:schemeClr val="tx1"/>
                          </a:solidFill>
                        </a:rPr>
                        <a:t>Horner-Wadsworth-Emmons (HWE) reactions </a:t>
                      </a:r>
                      <a:endParaRPr lang="en-SG" sz="2400" b="1" dirty="0">
                        <a:solidFill>
                          <a:schemeClr val="tx1"/>
                        </a:solidFill>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87494"/>
                  </a:ext>
                </a:extLst>
              </a:tr>
              <a:tr h="4387466">
                <a:tc>
                  <a:txBody>
                    <a:bodyPr/>
                    <a:lstStyle/>
                    <a:p>
                      <a:pPr marL="0" indent="0">
                        <a:buFontTx/>
                        <a:buNone/>
                      </a:pPr>
                      <a:endParaRPr lang="en-SG" sz="1800" dirty="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304261"/>
                  </a:ext>
                </a:extLst>
              </a:tr>
            </a:tbl>
          </a:graphicData>
        </a:graphic>
      </p:graphicFrame>
      <p:sp>
        <p:nvSpPr>
          <p:cNvPr id="4" name="Rectangle 2">
            <a:extLst>
              <a:ext uri="{FF2B5EF4-FFF2-40B4-BE49-F238E27FC236}">
                <a16:creationId xmlns:a16="http://schemas.microsoft.com/office/drawing/2014/main" id="{DA88AACB-9B8B-4AB3-A065-93F13C208957}"/>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6" name="Slide Number Placeholder 5"/>
          <p:cNvSpPr>
            <a:spLocks noGrp="1"/>
          </p:cNvSpPr>
          <p:nvPr>
            <p:ph type="sldNum" sz="quarter" idx="12"/>
          </p:nvPr>
        </p:nvSpPr>
        <p:spPr/>
        <p:txBody>
          <a:bodyPr/>
          <a:lstStyle/>
          <a:p>
            <a:fld id="{8FF8FCDB-0CA2-4141-8C79-67CC4C2E3E65}" type="slidenum">
              <a:rPr lang="en-US" smtClean="0"/>
              <a:t>37</a:t>
            </a:fld>
            <a:endParaRPr lang="en-US"/>
          </a:p>
        </p:txBody>
      </p:sp>
      <p:sp>
        <p:nvSpPr>
          <p:cNvPr id="8" name="Rectangle 2">
            <a:extLst>
              <a:ext uri="{FF2B5EF4-FFF2-40B4-BE49-F238E27FC236}">
                <a16:creationId xmlns:a16="http://schemas.microsoft.com/office/drawing/2014/main" id="{0164D40A-D5A8-434C-A712-5756AA5F077D}"/>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sp>
        <p:nvSpPr>
          <p:cNvPr id="5" name="Rectangle 2">
            <a:extLst>
              <a:ext uri="{FF2B5EF4-FFF2-40B4-BE49-F238E27FC236}">
                <a16:creationId xmlns:a16="http://schemas.microsoft.com/office/drawing/2014/main" id="{29534484-8B30-4473-BFFA-6DFF85EDD57F}"/>
              </a:ext>
            </a:extLst>
          </p:cNvPr>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SG" sz="1350"/>
          </a:p>
        </p:txBody>
      </p:sp>
      <p:pic>
        <p:nvPicPr>
          <p:cNvPr id="11" name="Picture 10">
            <a:extLst>
              <a:ext uri="{FF2B5EF4-FFF2-40B4-BE49-F238E27FC236}">
                <a16:creationId xmlns:a16="http://schemas.microsoft.com/office/drawing/2014/main" id="{CDF46A34-2064-411F-81A6-4885BEBC7087}"/>
              </a:ext>
            </a:extLst>
          </p:cNvPr>
          <p:cNvPicPr>
            <a:picLocks noChangeAspect="1"/>
          </p:cNvPicPr>
          <p:nvPr/>
        </p:nvPicPr>
        <p:blipFill>
          <a:blip r:embed="rId3"/>
          <a:stretch>
            <a:fillRect/>
          </a:stretch>
        </p:blipFill>
        <p:spPr>
          <a:xfrm>
            <a:off x="786294" y="3717191"/>
            <a:ext cx="5988545" cy="1910942"/>
          </a:xfrm>
          <a:prstGeom prst="rect">
            <a:avLst/>
          </a:prstGeom>
        </p:spPr>
      </p:pic>
      <p:sp>
        <p:nvSpPr>
          <p:cNvPr id="12" name="Rectangle 11">
            <a:extLst>
              <a:ext uri="{FF2B5EF4-FFF2-40B4-BE49-F238E27FC236}">
                <a16:creationId xmlns:a16="http://schemas.microsoft.com/office/drawing/2014/main" id="{D71804CF-C2FC-4F67-B2A5-8C713C1B0CC7}"/>
              </a:ext>
            </a:extLst>
          </p:cNvPr>
          <p:cNvSpPr/>
          <p:nvPr/>
        </p:nvSpPr>
        <p:spPr>
          <a:xfrm>
            <a:off x="4572000" y="3661344"/>
            <a:ext cx="2544266" cy="1963169"/>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dirty="0"/>
          </a:p>
        </p:txBody>
      </p:sp>
      <p:sp>
        <p:nvSpPr>
          <p:cNvPr id="15" name="Rectangle 14">
            <a:extLst>
              <a:ext uri="{FF2B5EF4-FFF2-40B4-BE49-F238E27FC236}">
                <a16:creationId xmlns:a16="http://schemas.microsoft.com/office/drawing/2014/main" id="{EE5AE4EB-4FB3-43DA-A996-9787C58DC4E0}"/>
              </a:ext>
            </a:extLst>
          </p:cNvPr>
          <p:cNvSpPr/>
          <p:nvPr/>
        </p:nvSpPr>
        <p:spPr>
          <a:xfrm>
            <a:off x="1733536" y="5262386"/>
            <a:ext cx="1009664" cy="41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dirty="0"/>
          </a:p>
        </p:txBody>
      </p:sp>
      <p:grpSp>
        <p:nvGrpSpPr>
          <p:cNvPr id="16" name="Group 15">
            <a:extLst>
              <a:ext uri="{FF2B5EF4-FFF2-40B4-BE49-F238E27FC236}">
                <a16:creationId xmlns:a16="http://schemas.microsoft.com/office/drawing/2014/main" id="{52D60AEF-DF08-4BB8-B827-5D208FD3C5D4}"/>
              </a:ext>
            </a:extLst>
          </p:cNvPr>
          <p:cNvGrpSpPr/>
          <p:nvPr/>
        </p:nvGrpSpPr>
        <p:grpSpPr>
          <a:xfrm>
            <a:off x="928709" y="1821927"/>
            <a:ext cx="6116227" cy="1139021"/>
            <a:chOff x="928709" y="1821927"/>
            <a:chExt cx="6116227" cy="1139021"/>
          </a:xfrm>
        </p:grpSpPr>
        <p:pic>
          <p:nvPicPr>
            <p:cNvPr id="2" name="Picture 1">
              <a:extLst>
                <a:ext uri="{FF2B5EF4-FFF2-40B4-BE49-F238E27FC236}">
                  <a16:creationId xmlns:a16="http://schemas.microsoft.com/office/drawing/2014/main" id="{00F72E4F-FB7D-44A9-8A24-2CFE19879087}"/>
                </a:ext>
              </a:extLst>
            </p:cNvPr>
            <p:cNvPicPr>
              <a:picLocks noChangeAspect="1"/>
            </p:cNvPicPr>
            <p:nvPr/>
          </p:nvPicPr>
          <p:blipFill rotWithShape="1">
            <a:blip r:embed="rId4"/>
            <a:srcRect r="78734" b="13739"/>
            <a:stretch/>
          </p:blipFill>
          <p:spPr>
            <a:xfrm>
              <a:off x="928709" y="1899643"/>
              <a:ext cx="1212390" cy="983587"/>
            </a:xfrm>
            <a:prstGeom prst="rect">
              <a:avLst/>
            </a:prstGeom>
          </p:spPr>
        </p:pic>
        <p:sp>
          <p:nvSpPr>
            <p:cNvPr id="3" name="Rectangle 2">
              <a:extLst>
                <a:ext uri="{FF2B5EF4-FFF2-40B4-BE49-F238E27FC236}">
                  <a16:creationId xmlns:a16="http://schemas.microsoft.com/office/drawing/2014/main" id="{A99AFFE8-3B5E-4A0E-9906-5D6ECD855EF3}"/>
                </a:ext>
              </a:extLst>
            </p:cNvPr>
            <p:cNvSpPr/>
            <p:nvPr/>
          </p:nvSpPr>
          <p:spPr>
            <a:xfrm>
              <a:off x="2362200" y="1821927"/>
              <a:ext cx="2057400" cy="1139021"/>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a:p>
          </p:txBody>
        </p:sp>
        <p:pic>
          <p:nvPicPr>
            <p:cNvPr id="13" name="Picture 12">
              <a:extLst>
                <a:ext uri="{FF2B5EF4-FFF2-40B4-BE49-F238E27FC236}">
                  <a16:creationId xmlns:a16="http://schemas.microsoft.com/office/drawing/2014/main" id="{31CDFB48-EFF9-4F79-9FD4-28423A87119A}"/>
                </a:ext>
              </a:extLst>
            </p:cNvPr>
            <p:cNvPicPr>
              <a:picLocks noChangeAspect="1"/>
            </p:cNvPicPr>
            <p:nvPr/>
          </p:nvPicPr>
          <p:blipFill rotWithShape="1">
            <a:blip r:embed="rId4"/>
            <a:srcRect l="21743" r="36947" b="13739"/>
            <a:stretch/>
          </p:blipFill>
          <p:spPr>
            <a:xfrm>
              <a:off x="4689697" y="1922805"/>
              <a:ext cx="2355239" cy="983587"/>
            </a:xfrm>
            <a:prstGeom prst="rect">
              <a:avLst/>
            </a:prstGeom>
          </p:spPr>
        </p:pic>
        <p:sp>
          <p:nvSpPr>
            <p:cNvPr id="14" name="Rectangle 13">
              <a:extLst>
                <a:ext uri="{FF2B5EF4-FFF2-40B4-BE49-F238E27FC236}">
                  <a16:creationId xmlns:a16="http://schemas.microsoft.com/office/drawing/2014/main" id="{D5A9E10F-3BBC-46D5-A56A-4AF5D31D1969}"/>
                </a:ext>
              </a:extLst>
            </p:cNvPr>
            <p:cNvSpPr/>
            <p:nvPr/>
          </p:nvSpPr>
          <p:spPr>
            <a:xfrm>
              <a:off x="4747790" y="1886063"/>
              <a:ext cx="407563" cy="41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0" dirty="0"/>
            </a:p>
          </p:txBody>
        </p:sp>
        <p:sp>
          <p:nvSpPr>
            <p:cNvPr id="10" name="TextBox 9">
              <a:extLst>
                <a:ext uri="{FF2B5EF4-FFF2-40B4-BE49-F238E27FC236}">
                  <a16:creationId xmlns:a16="http://schemas.microsoft.com/office/drawing/2014/main" id="{F5C74A4E-B4AF-4413-9C89-A0710EFA5DA6}"/>
                </a:ext>
              </a:extLst>
            </p:cNvPr>
            <p:cNvSpPr txBox="1"/>
            <p:nvPr/>
          </p:nvSpPr>
          <p:spPr>
            <a:xfrm>
              <a:off x="1994925" y="2247341"/>
              <a:ext cx="300082" cy="369332"/>
            </a:xfrm>
            <a:prstGeom prst="rect">
              <a:avLst/>
            </a:prstGeom>
            <a:noFill/>
          </p:spPr>
          <p:txBody>
            <a:bodyPr wrap="none" rtlCol="0">
              <a:spAutoFit/>
            </a:bodyPr>
            <a:lstStyle/>
            <a:p>
              <a:r>
                <a:rPr lang="en-US" dirty="0"/>
                <a:t>+</a:t>
              </a:r>
            </a:p>
          </p:txBody>
        </p:sp>
      </p:grpSp>
    </p:spTree>
    <p:extLst>
      <p:ext uri="{BB962C8B-B14F-4D97-AF65-F5344CB8AC3E}">
        <p14:creationId xmlns:p14="http://schemas.microsoft.com/office/powerpoint/2010/main" val="4186415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D65F-1AC2-4377-BB00-3512BB1A874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54BF006-ADB3-428E-9485-BCD775861E9D}"/>
              </a:ext>
            </a:extLst>
          </p:cNvPr>
          <p:cNvSpPr>
            <a:spLocks noGrp="1"/>
          </p:cNvSpPr>
          <p:nvPr>
            <p:ph idx="1"/>
          </p:nvPr>
        </p:nvSpPr>
        <p:spPr/>
        <p:txBody>
          <a:bodyPr>
            <a:normAutofit/>
          </a:bodyPr>
          <a:lstStyle/>
          <a:p>
            <a:pPr>
              <a:spcBef>
                <a:spcPts val="0"/>
              </a:spcBef>
              <a:defRPr/>
            </a:pPr>
            <a:r>
              <a:rPr lang="en-US" sz="2400" b="1" dirty="0"/>
              <a:t>Stereoselective synthesis of alkenes from alkynes</a:t>
            </a:r>
            <a:endParaRPr lang="en-SG" sz="2400" b="1" dirty="0"/>
          </a:p>
          <a:p>
            <a:pPr lvl="1"/>
            <a:r>
              <a:rPr lang="en-US" sz="2400" dirty="0"/>
              <a:t>Z- alkenes: Hydrogen and </a:t>
            </a:r>
            <a:r>
              <a:rPr lang="en-US" sz="2400" dirty="0" err="1"/>
              <a:t>Lindlar</a:t>
            </a:r>
            <a:r>
              <a:rPr lang="en-US" sz="2400" dirty="0"/>
              <a:t> catalyst </a:t>
            </a:r>
          </a:p>
          <a:p>
            <a:pPr lvl="1"/>
            <a:r>
              <a:rPr lang="en-US" sz="2400" dirty="0"/>
              <a:t>E- alkenes: Sodium in ammonia</a:t>
            </a:r>
            <a:endParaRPr lang="en-US" sz="2400" b="1" dirty="0"/>
          </a:p>
          <a:p>
            <a:r>
              <a:rPr lang="en-US" sz="2400" b="1" dirty="0"/>
              <a:t>The Wittig Reaction</a:t>
            </a:r>
          </a:p>
          <a:p>
            <a:pPr lvl="1"/>
            <a:r>
              <a:rPr lang="en-US" sz="2400" dirty="0"/>
              <a:t>Z- alkenes: </a:t>
            </a:r>
            <a:r>
              <a:rPr lang="en-US" sz="2400" dirty="0" err="1"/>
              <a:t>unstabilized</a:t>
            </a:r>
            <a:r>
              <a:rPr lang="en-US" sz="2400" dirty="0"/>
              <a:t> ylide</a:t>
            </a:r>
          </a:p>
          <a:p>
            <a:pPr lvl="1"/>
            <a:r>
              <a:rPr lang="en-US" sz="2400" dirty="0"/>
              <a:t>E- alkenes: stabilized ylide</a:t>
            </a:r>
          </a:p>
          <a:p>
            <a:pPr lvl="1"/>
            <a:r>
              <a:rPr lang="en-US" sz="2400" dirty="0"/>
              <a:t>HWE reaction</a:t>
            </a:r>
          </a:p>
          <a:p>
            <a:pPr marL="0" indent="0">
              <a:buNone/>
            </a:pPr>
            <a:endParaRPr lang="en-US" sz="1800" b="1" dirty="0"/>
          </a:p>
          <a:p>
            <a:pPr marL="514350" indent="-514350">
              <a:buFont typeface="+mj-lt"/>
              <a:buAutoNum type="romanUcPeriod"/>
            </a:pPr>
            <a:endParaRPr lang="en-US" sz="1800" b="1" dirty="0"/>
          </a:p>
          <a:p>
            <a:endParaRPr lang="en-US" dirty="0"/>
          </a:p>
        </p:txBody>
      </p:sp>
      <p:sp>
        <p:nvSpPr>
          <p:cNvPr id="4" name="Slide Number Placeholder 3">
            <a:extLst>
              <a:ext uri="{FF2B5EF4-FFF2-40B4-BE49-F238E27FC236}">
                <a16:creationId xmlns:a16="http://schemas.microsoft.com/office/drawing/2014/main" id="{3F9EB3EF-5406-4999-BAE6-D86E8914B717}"/>
              </a:ext>
            </a:extLst>
          </p:cNvPr>
          <p:cNvSpPr>
            <a:spLocks noGrp="1"/>
          </p:cNvSpPr>
          <p:nvPr>
            <p:ph type="sldNum" sz="quarter" idx="12"/>
          </p:nvPr>
        </p:nvSpPr>
        <p:spPr/>
        <p:txBody>
          <a:bodyPr/>
          <a:lstStyle/>
          <a:p>
            <a:fld id="{DC92BDBB-398E-48A7-A195-B9C0665C5B2E}" type="slidenum">
              <a:rPr lang="en-US" smtClean="0"/>
              <a:pPr/>
              <a:t>38</a:t>
            </a:fld>
            <a:endParaRPr lang="en-US"/>
          </a:p>
        </p:txBody>
      </p:sp>
    </p:spTree>
    <p:extLst>
      <p:ext uri="{BB962C8B-B14F-4D97-AF65-F5344CB8AC3E}">
        <p14:creationId xmlns:p14="http://schemas.microsoft.com/office/powerpoint/2010/main" val="8324357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8&quot; unique_id=&quot;10120&quot;&gt;&lt;/object&gt;&lt;object type=&quot;2&quot; unique_id=&quot;10121&quot;&gt;&lt;object type=&quot;3&quot; unique_id=&quot;16362&quot;&gt;&lt;property id=&quot;20148&quot; value=&quot;5&quot;/&gt;&lt;property id=&quot;20300&quot; value=&quot;Slide 7 - &amp;quot;1,4,7-Trimethyloxatriquinane: SN2 Reaction at Tertiary Carbon Mark Mascal,* Nema Hafezi, and Michael D. Toney Depar&quot;/&gt;&lt;property id=&quot;20307&quot; value=&quot;260&quot;/&gt;&lt;/object&gt;&lt;object type=&quot;3&quot; unique_id=&quot;16363&quot;&gt;&lt;property id=&quot;20148&quot; value=&quot;5&quot;/&gt;&lt;property id=&quot;20300&quot; value=&quot;Slide 8 - &amp;quot;Introduction&amp;quot;&quot;/&gt;&lt;property id=&quot;20307&quot; value=&quot;275&quot;/&gt;&lt;/object&gt;&lt;object type=&quot;3&quot; unique_id=&quot;16364&quot;&gt;&lt;property id=&quot;20148&quot; value=&quot;5&quot;/&gt;&lt;property id=&quot;20300&quot; value=&quot;Slide 10 - &amp;quot;In this study&amp;quot;&quot;/&gt;&lt;property id=&quot;20307&quot; value=&quot;274&quot;/&gt;&lt;/object&gt;&lt;object type=&quot;3&quot; unique_id=&quot;16928&quot;&gt;&lt;property id=&quot;20148&quot; value=&quot;5&quot;/&gt;&lt;property id=&quot;20300&quot; value=&quot;Slide 12 - &amp;quot;Discussion&amp;quot;&quot;/&gt;&lt;property id=&quot;20307&quot; value=&quot;282&quot;/&gt;&lt;/object&gt;&lt;object type=&quot;3&quot; unique_id=&quot;16929&quot;&gt;&lt;property id=&quot;20148&quot; value=&quot;5&quot;/&gt;&lt;property id=&quot;20300&quot; value=&quot;Slide 13 - &amp;quot;Data&amp;quot;&quot;/&gt;&lt;property id=&quot;20307&quot; value=&quot;283&quot;/&gt;&lt;/object&gt;&lt;object type=&quot;3&quot; unique_id=&quot;16931&quot;&gt;&lt;property id=&quot;20148&quot; value=&quot;5&quot;/&gt;&lt;property id=&quot;20300&quot; value=&quot;Slide 16 - &amp;quot;Reactivity&amp;quot;&quot;/&gt;&lt;property id=&quot;20307&quot; value=&quot;279&quot;/&gt;&lt;/object&gt;&lt;object type=&quot;3&quot; unique_id=&quot;16932&quot;&gt;&lt;property id=&quot;20148&quot; value=&quot;5&quot;/&gt;&lt;property id=&quot;20300&quot; value=&quot;Slide 17 - &amp;quot;Substitution reaction&amp;quot;&quot;/&gt;&lt;property id=&quot;20307&quot; value=&quot;280&quot;/&gt;&lt;/object&gt;&lt;object type=&quot;3&quot; unique_id=&quot;16934&quot;&gt;&lt;property id=&quot;20148&quot; value=&quot;5&quot;/&gt;&lt;property id=&quot;20300&quot; value=&quot;Slide 18 - &amp;quot;Determining reaction mechanism&amp;quot;&quot;/&gt;&lt;property id=&quot;20307&quot; value=&quot;286&quot;/&gt;&lt;/object&gt;&lt;object type=&quot;3&quot; unique_id=&quot;16936&quot;&gt;&lt;property id=&quot;20148&quot; value=&quot;5&quot;/&gt;&lt;property id=&quot;20300&quot; value=&quot;Slide 19 - &amp;quot;Summary of results&amp;quot;&quot;/&gt;&lt;property id=&quot;20307&quot; value=&quot;288&quot;/&gt;&lt;/object&gt;&lt;object type=&quot;3&quot; unique_id=&quot;16937&quot;&gt;&lt;property id=&quot;20148&quot; value=&quot;5&quot;/&gt;&lt;property id=&quot;20300&quot; value=&quot;Slide 21 - &amp;quot;Literature &amp;quot;&quot;/&gt;&lt;property id=&quot;20307&quot; value=&quot;289&quot;/&gt;&lt;/object&gt;&lt;object type=&quot;3&quot; unique_id=&quot;16938&quot;&gt;&lt;property id=&quot;20148&quot; value=&quot;5&quot;/&gt;&lt;property id=&quot;20300&quot; value=&quot;Slide 22&quot;/&gt;&lt;property id=&quot;20307&quot; value=&quot;292&quot;/&gt;&lt;/object&gt;&lt;object type=&quot;3&quot; unique_id=&quot;16939&quot;&gt;&lt;property id=&quot;20148&quot; value=&quot;5&quot;/&gt;&lt;property id=&quot;20300&quot; value=&quot;Slide 23 - &amp;quot;Reaction mechanism&amp;quot;&quot;/&gt;&lt;property id=&quot;20307&quot; value=&quot;290&quot;/&gt;&lt;/object&gt;&lt;object type=&quot;3&quot; unique_id=&quot;17086&quot;&gt;&lt;property id=&quot;20148&quot; value=&quot;5&quot;/&gt;&lt;property id=&quot;20300&quot; value=&quot;Slide 20 - &amp;quot;SN2 at tertiary carbon center &amp;quot;&quot;/&gt;&lt;property id=&quot;20307&quot; value=&quot;295&quot;/&gt;&lt;/object&gt;&lt;object type=&quot;3&quot; unique_id=&quot;30238&quot;&gt;&lt;property id=&quot;20148&quot; value=&quot;5&quot;/&gt;&lt;property id=&quot;20300&quot; value=&quot;Slide 1 - &amp;quot;CM3222: Organic Reaction Mechanisms&amp;quot;&quot;/&gt;&lt;property id=&quot;20307&quot; value=&quot;302&quot;/&gt;&lt;/object&gt;&lt;object type=&quot;3&quot; unique_id=&quot;30239&quot;&gt;&lt;property id=&quot;20148&quot; value=&quot;5&quot;/&gt;&lt;property id=&quot;20300&quot; value=&quot;Slide 2 - &amp;quot;CM3222 - AY1617&amp;amp;#x09;&amp;quot;&quot;/&gt;&lt;property id=&quot;20307&quot; value=&quot;300&quot;/&gt;&lt;/object&gt;&lt;object type=&quot;3&quot; unique_id=&quot;30240&quot;&gt;&lt;property id=&quot;20148&quot; value=&quot;5&quot;/&gt;&lt;property id=&quot;20300&quot; value=&quot;Slide 3 - &amp;quot;CM3222&amp;quot;&quot;/&gt;&lt;property id=&quot;20307&quot; value=&quot;301&quot;/&gt;&lt;/object&gt;&lt;object type=&quot;3&quot; unique_id=&quot;30242&quot;&gt;&lt;property id=&quot;20148&quot; value=&quot;5&quot;/&gt;&lt;property id=&quot;20300&quot; value=&quot;Slide 11 - &amp;quot;Synthesis 1&amp;quot;&quot;/&gt;&lt;property id=&quot;20307&quot; value=&quot;298&quot;/&gt;&lt;/object&gt;&lt;object type=&quot;3&quot; unique_id=&quot;30243&quot;&gt;&lt;property id=&quot;20148&quot; value=&quot;5&quot;/&gt;&lt;property id=&quot;20300&quot; value=&quot;Slide 14&quot;/&gt;&lt;property id=&quot;20307&quot; value=&quot;299&quot;/&gt;&lt;/object&gt;&lt;object type=&quot;3&quot; unique_id=&quot;30348&quot;&gt;&lt;property id=&quot;20148&quot; value=&quot;5&quot;/&gt;&lt;property id=&quot;20300&quot; value=&quot;Slide 15&quot;/&gt;&lt;property id=&quot;20307&quot; value=&quot;303&quot;/&gt;&lt;/object&gt;&lt;object type=&quot;3&quot; unique_id=&quot;30412&quot;&gt;&lt;property id=&quot;20148&quot; value=&quot;5&quot;/&gt;&lt;property id=&quot;20300&quot; value=&quot;Slide 9 - &amp;quot;Introduction&amp;quot;&quot;/&gt;&lt;property id=&quot;20307&quot; value=&quot;304&quot;/&gt;&lt;/object&gt;&lt;object type=&quot;3&quot; unique_id=&quot;30533&quot;&gt;&lt;property id=&quot;20148&quot; value=&quot;5&quot;/&gt;&lt;property id=&quot;20300&quot; value=&quot;Slide 4&quot;/&gt;&lt;property id=&quot;20307&quot; value=&quot;305&quot;/&gt;&lt;/object&gt;&lt;object type=&quot;3&quot; unique_id=&quot;30534&quot;&gt;&lt;property id=&quot;20148&quot; value=&quot;5&quot;/&gt;&lt;property id=&quot;20300&quot; value=&quot;Slide 5&quot;/&gt;&lt;property id=&quot;20307&quot; value=&quot;306&quot;/&gt;&lt;/object&gt;&lt;object type=&quot;3&quot; unique_id=&quot;30535&quot;&gt;&lt;property id=&quot;20148&quot; value=&quot;5&quot;/&gt;&lt;property id=&quot;20300&quot; value=&quot;Slide 6&quot;/&gt;&lt;property id=&quot;20307&quot; value=&quot;307&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4376</TotalTime>
  <Words>1713</Words>
  <Application>Microsoft Office PowerPoint</Application>
  <PresentationFormat>On-screen Show (4:3)</PresentationFormat>
  <Paragraphs>436</Paragraphs>
  <Slides>38</Slides>
  <Notes>31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Google Sans</vt:lpstr>
      <vt:lpstr>StoneSerifStd-Medium</vt:lpstr>
      <vt:lpstr>Arial</vt:lpstr>
      <vt:lpstr>Calibri</vt:lpstr>
      <vt:lpstr>Roboto</vt:lpstr>
      <vt:lpstr>Wingdings</vt:lpstr>
      <vt:lpstr>Office Theme</vt:lpstr>
      <vt:lpstr>CS ChemDraw Drawing</vt:lpstr>
      <vt:lpstr>CM3121 – Advanced Organic Chemistry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Mechanism: TEMPO as the catalyst</vt:lpstr>
      <vt:lpstr>PowerPoint Presentation</vt:lpstr>
      <vt:lpstr>PowerPoint Presentation</vt:lpstr>
      <vt:lpstr>PowerPoint Presentation</vt:lpstr>
      <vt:lpstr>PowerPoint Presentation</vt:lpstr>
      <vt:lpstr>PowerPoint Presentation</vt:lpstr>
      <vt:lpstr>PowerPoint Presentation</vt:lpstr>
      <vt:lpstr>CM3121 – Advanced Organic Chemistry</vt:lpstr>
      <vt:lpstr>Alkenes from petroleum industry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Company>National University of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CM3291 – One-pot Aldol Condensation and Diels-Alder Reaction</dc:title>
  <dc:creator>Giang Hoang</dc:creator>
  <cp:lastModifiedBy>Zhu Ye</cp:lastModifiedBy>
  <cp:revision>2303</cp:revision>
  <cp:lastPrinted>2026-08-26T06:55:09Z</cp:lastPrinted>
  <dcterms:created xsi:type="dcterms:W3CDTF">2015-08-20T02:05:48Z</dcterms:created>
  <dcterms:modified xsi:type="dcterms:W3CDTF">2026-09-02T01:59:58Z</dcterms:modified>
</cp:coreProperties>
</file>